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97" r:id="rId3"/>
    <p:sldId id="258" r:id="rId4"/>
    <p:sldId id="269" r:id="rId5"/>
    <p:sldId id="284" r:id="rId6"/>
    <p:sldId id="286" r:id="rId7"/>
    <p:sldId id="263" r:id="rId8"/>
    <p:sldId id="275" r:id="rId9"/>
    <p:sldId id="288" r:id="rId10"/>
    <p:sldId id="289" r:id="rId11"/>
    <p:sldId id="276" r:id="rId12"/>
    <p:sldId id="277" r:id="rId13"/>
    <p:sldId id="279" r:id="rId14"/>
    <p:sldId id="280" r:id="rId15"/>
    <p:sldId id="281" r:id="rId16"/>
    <p:sldId id="290" r:id="rId17"/>
    <p:sldId id="273" r:id="rId18"/>
    <p:sldId id="295" r:id="rId19"/>
    <p:sldId id="294" r:id="rId20"/>
    <p:sldId id="298" r:id="rId21"/>
    <p:sldId id="299" r:id="rId22"/>
    <p:sldId id="300" r:id="rId23"/>
    <p:sldId id="301" r:id="rId24"/>
    <p:sldId id="302" r:id="rId25"/>
    <p:sldId id="303" r:id="rId26"/>
    <p:sldId id="304" r:id="rId27"/>
    <p:sldId id="305" r:id="rId28"/>
    <p:sldId id="306" r:id="rId29"/>
    <p:sldId id="307" r:id="rId30"/>
    <p:sldId id="27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443" autoAdjust="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15</a:t>
            </a:fld>
            <a:endParaRPr lang="en-US"/>
          </a:p>
        </p:txBody>
      </p:sp>
    </p:spTree>
    <p:extLst>
      <p:ext uri="{BB962C8B-B14F-4D97-AF65-F5344CB8AC3E}">
        <p14:creationId xmlns:p14="http://schemas.microsoft.com/office/powerpoint/2010/main" val="658405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B2AA4F-B828-4D7C-AFD3-893933DAFCB4}" type="slidenum">
              <a:rPr lang="en-US" smtClean="0"/>
              <a:t>18</a:t>
            </a:fld>
            <a:endParaRPr lang="en-US"/>
          </a:p>
        </p:txBody>
      </p:sp>
    </p:spTree>
    <p:extLst>
      <p:ext uri="{BB962C8B-B14F-4D97-AF65-F5344CB8AC3E}">
        <p14:creationId xmlns:p14="http://schemas.microsoft.com/office/powerpoint/2010/main" val="29576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757E4DC-291E-49F1-A238-889CC58A8D9B}"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757E4DC-291E-49F1-A238-889CC58A8D9B}"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7E4DC-291E-49F1-A238-889CC58A8D9B}" type="datetimeFigureOut">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757E4DC-291E-49F1-A238-889CC58A8D9B}"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757E4DC-291E-49F1-A238-889CC58A8D9B}"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7E4DC-291E-49F1-A238-889CC58A8D9B}" type="datetimeFigureOut">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57E4DC-291E-49F1-A238-889CC58A8D9B}"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757E4DC-291E-49F1-A238-889CC58A8D9B}"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3A45EC-DE58-4A93-9691-1D6501F2FAB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7E4DC-291E-49F1-A238-889CC58A8D9B}" type="datetimeFigureOut">
              <a:rPr lang="en-IN" smtClean="0"/>
              <a:t>23-03-2026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A45EC-DE58-4A93-9691-1D6501F2FAB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7E4DC-291E-49F1-A238-889CC58A8D9B}" type="datetimeFigureOut">
              <a:rPr lang="en-IN" smtClean="0"/>
              <a:t>23-03-2026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A45EC-DE58-4A93-9691-1D6501F2FAB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jpeg"/><Relationship Id="rId4" Type="http://schemas.openxmlformats.org/officeDocument/2006/relationships/image" Target="../media/image10.svg"/></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3471606" y="1389380"/>
            <a:ext cx="6800215" cy="1743710"/>
          </a:xfrm>
        </p:spPr>
        <p:txBody>
          <a:bodyPr>
            <a:normAutofit fontScale="90000"/>
          </a:bodyPr>
          <a:lstStyle/>
          <a:p>
            <a:r>
              <a:rPr lang="en-US" sz="4000" b="1" dirty="0">
                <a:solidFill>
                  <a:srgbClr val="FF0000"/>
                </a:solidFill>
                <a:latin typeface="Times New Roman" panose="02020603050405020304"/>
                <a:cs typeface="Times New Roman" panose="02020603050405020304"/>
              </a:rPr>
              <a:t>CMR Technical Campus</a:t>
            </a:r>
            <a:br>
              <a:rPr lang="en-US" sz="4000" b="1" dirty="0">
                <a:latin typeface="Times New Roman" panose="02020603050405020304"/>
                <a:cs typeface="Times New Roman" panose="02020603050405020304"/>
              </a:rPr>
            </a:br>
            <a:r>
              <a:rPr lang="en-US" sz="4000" b="1" dirty="0">
                <a:solidFill>
                  <a:srgbClr val="00B0F0"/>
                </a:solidFill>
                <a:latin typeface="Times New Roman" panose="02020603050405020304"/>
                <a:cs typeface="Times New Roman" panose="02020603050405020304"/>
              </a:rPr>
              <a:t>Department of </a:t>
            </a:r>
            <a:r>
              <a:rPr lang="en-IN" altLang="en-US" sz="4000" b="1" dirty="0">
                <a:solidFill>
                  <a:srgbClr val="00B0F0"/>
                </a:solidFill>
                <a:latin typeface="Times New Roman" panose="02020603050405020304"/>
                <a:cs typeface="Times New Roman" panose="02020603050405020304"/>
              </a:rPr>
              <a:t>IT</a:t>
            </a:r>
            <a:br>
              <a:rPr lang="en-IN" altLang="en-US" sz="4000" b="1" dirty="0">
                <a:solidFill>
                  <a:srgbClr val="00B0F0"/>
                </a:solidFill>
                <a:latin typeface="Times New Roman" panose="02020603050405020304"/>
                <a:cs typeface="Times New Roman" panose="02020603050405020304"/>
              </a:rPr>
            </a:br>
            <a:r>
              <a:rPr lang="en-IN" altLang="en-US" sz="2700" b="1" dirty="0">
                <a:latin typeface="Times New Roman" panose="02020603050405020304"/>
                <a:cs typeface="Times New Roman" panose="02020603050405020304"/>
              </a:rPr>
              <a:t>Major Project stage-02</a:t>
            </a:r>
            <a:br>
              <a:rPr lang="en-IN" altLang="en-US" sz="2700" b="1" dirty="0">
                <a:solidFill>
                  <a:srgbClr val="00B0F0"/>
                </a:solidFill>
                <a:latin typeface="Times New Roman" panose="02020603050405020304"/>
                <a:cs typeface="Times New Roman" panose="02020603050405020304"/>
              </a:rPr>
            </a:br>
            <a:r>
              <a:rPr lang="en-IN" altLang="en-US" sz="2700" b="1" dirty="0">
                <a:latin typeface="Times New Roman" panose="02020603050405020304"/>
                <a:cs typeface="Times New Roman" panose="02020603050405020304"/>
              </a:rPr>
              <a:t>Review-02</a:t>
            </a:r>
            <a:endParaRPr lang="en-US" sz="2700" dirty="0">
              <a:latin typeface="Times New Roman" panose="02020603050405020304"/>
              <a:cs typeface="Times New Roman" panose="02020603050405020304"/>
            </a:endParaRPr>
          </a:p>
          <a:p>
            <a:endParaRPr lang="en-US" dirty="0">
              <a:ea typeface="Calibri Light" panose="020F0302020204030204"/>
              <a:cs typeface="Calibri Light" panose="020F0302020204030204"/>
            </a:endParaRPr>
          </a:p>
        </p:txBody>
      </p:sp>
      <p:pic>
        <p:nvPicPr>
          <p:cNvPr id="8" name="Picture 7" descr="A logo with a flower&#10;&#10;Description automatically generated"/>
          <p:cNvPicPr>
            <a:picLocks noChangeAspect="1"/>
          </p:cNvPicPr>
          <p:nvPr/>
        </p:nvPicPr>
        <p:blipFill>
          <a:blip r:embed="rId2"/>
          <a:stretch>
            <a:fillRect/>
          </a:stretch>
        </p:blipFill>
        <p:spPr>
          <a:xfrm>
            <a:off x="1232221" y="503562"/>
            <a:ext cx="1648967" cy="1429829"/>
          </a:xfrm>
          <a:prstGeom prst="rect">
            <a:avLst/>
          </a:prstGeom>
        </p:spPr>
      </p:pic>
      <p:sp>
        <p:nvSpPr>
          <p:cNvPr id="10" name="TextBox 9"/>
          <p:cNvSpPr txBox="1"/>
          <p:nvPr/>
        </p:nvSpPr>
        <p:spPr>
          <a:xfrm>
            <a:off x="1054100" y="2671445"/>
            <a:ext cx="11428095" cy="1476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000" b="1" dirty="0">
                <a:solidFill>
                  <a:srgbClr val="FF0000"/>
                </a:solidFill>
                <a:latin typeface="Times New Roman" panose="02020603050405020304" pitchFamily="18" charset="0"/>
                <a:cs typeface="Times New Roman" panose="02020603050405020304" pitchFamily="18" charset="0"/>
              </a:rPr>
              <a:t>Project Title:</a:t>
            </a:r>
            <a:r>
              <a:rPr lang="en-IN" altLang="en-US" sz="3000" b="1" dirty="0">
                <a:solidFill>
                  <a:srgbClr val="FF0000"/>
                </a:solidFill>
                <a:latin typeface="Times New Roman" panose="02020603050405020304" pitchFamily="18" charset="0"/>
                <a:cs typeface="Times New Roman" panose="02020603050405020304" pitchFamily="18" charset="0"/>
              </a:rPr>
              <a:t> </a:t>
            </a:r>
            <a:r>
              <a:rPr lang="en-IN" sz="3000" b="1" dirty="0">
                <a:latin typeface="Times New Roman" panose="02020603050405020304" pitchFamily="18" charset="0"/>
                <a:cs typeface="Times New Roman" panose="02020603050405020304" pitchFamily="18" charset="0"/>
                <a:sym typeface="+mn-ea"/>
              </a:rPr>
              <a:t>Automated Infectious Disease Classification using ELECTRA Feature Extraction Driven Ensemble Learning</a:t>
            </a:r>
            <a:endParaRPr lang="en-IN" sz="3000" b="1" dirty="0">
              <a:latin typeface="Times New Roman" panose="02020603050405020304" pitchFamily="18" charset="0"/>
              <a:cs typeface="Times New Roman" panose="02020603050405020304" pitchFamily="18" charset="0"/>
            </a:endParaRPr>
          </a:p>
          <a:p>
            <a:endParaRPr lang="en-US" sz="30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1053930" y="4147552"/>
            <a:ext cx="4316998" cy="101473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solidFill>
                  <a:srgbClr val="00B0F0"/>
                </a:solidFill>
                <a:latin typeface="Times New Roman" panose="02020603050405020304"/>
                <a:cs typeface="Segoe UI" panose="020B0502040204020203"/>
              </a:rPr>
              <a:t>Project Supervisor:</a:t>
            </a:r>
            <a:r>
              <a:rPr lang="en-US" sz="2000" dirty="0">
                <a:latin typeface="Times New Roman" panose="02020603050405020304"/>
                <a:cs typeface="Segoe UI" panose="020B0502040204020203"/>
              </a:rPr>
              <a:t>​</a:t>
            </a:r>
          </a:p>
          <a:p>
            <a:r>
              <a:rPr lang="en-US" sz="2000" b="1" dirty="0">
                <a:solidFill>
                  <a:srgbClr val="002060"/>
                </a:solidFill>
                <a:latin typeface="Times New Roman" panose="02020603050405020304"/>
                <a:cs typeface="Segoe UI" panose="020B0502040204020203"/>
              </a:rPr>
              <a:t>Name:</a:t>
            </a:r>
            <a:r>
              <a:rPr lang="en-US" sz="2000" dirty="0">
                <a:latin typeface="Times New Roman" panose="02020603050405020304"/>
                <a:cs typeface="Segoe UI" panose="020B0502040204020203"/>
              </a:rPr>
              <a:t>​ </a:t>
            </a:r>
            <a:r>
              <a:rPr lang="en-IN" altLang="en-US" sz="2000" dirty="0">
                <a:latin typeface="Times New Roman" panose="02020603050405020304" pitchFamily="18" charset="0"/>
                <a:cs typeface="Times New Roman" panose="02020603050405020304" pitchFamily="18" charset="0"/>
              </a:rPr>
              <a:t>MD.Sajid Pasha</a:t>
            </a:r>
            <a:endParaRPr lang="en-US" altLang="en-US" sz="2000" dirty="0">
              <a:latin typeface="Times New Roman" panose="02020603050405020304" pitchFamily="18" charset="0"/>
              <a:cs typeface="Times New Roman" panose="02020603050405020304" pitchFamily="18" charset="0"/>
            </a:endParaRPr>
          </a:p>
          <a:p>
            <a:r>
              <a:rPr lang="en-US" sz="2000" b="1" dirty="0">
                <a:solidFill>
                  <a:srgbClr val="002060"/>
                </a:solidFill>
                <a:latin typeface="Times New Roman" panose="02020603050405020304"/>
                <a:cs typeface="Segoe UI" panose="020B0502040204020203"/>
              </a:rPr>
              <a:t>Designation: </a:t>
            </a:r>
            <a:r>
              <a:rPr lang="en-US" sz="2000" dirty="0">
                <a:latin typeface="Times New Roman" panose="02020603050405020304"/>
                <a:cs typeface="Segoe UI" panose="020B0502040204020203"/>
              </a:rPr>
              <a:t>Asst. Prof</a:t>
            </a:r>
            <a:endParaRPr lang="en-IN" sz="2000" dirty="0">
              <a:latin typeface="Times New Roman" panose="02020603050405020304"/>
              <a:cs typeface="Segoe UI" panose="020B0502040204020203"/>
            </a:endParaRPr>
          </a:p>
        </p:txBody>
      </p:sp>
      <p:sp>
        <p:nvSpPr>
          <p:cNvPr id="2" name="TextBox 1"/>
          <p:cNvSpPr txBox="1"/>
          <p:nvPr/>
        </p:nvSpPr>
        <p:spPr>
          <a:xfrm>
            <a:off x="5168265" y="4232910"/>
            <a:ext cx="7640955" cy="1476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solidFill>
                  <a:srgbClr val="00B0F0"/>
                </a:solidFill>
                <a:latin typeface="Times New Roman" panose="02020603050405020304"/>
                <a:cs typeface="Segoe UI" panose="020B0502040204020203"/>
              </a:rPr>
              <a:t>Presented By:</a:t>
            </a:r>
            <a:r>
              <a:rPr lang="en-US" dirty="0">
                <a:latin typeface="Times New Roman" panose="02020603050405020304"/>
                <a:cs typeface="Segoe UI" panose="020B0502040204020203"/>
              </a:rPr>
              <a:t>​</a:t>
            </a:r>
          </a:p>
          <a:p>
            <a:r>
              <a:rPr lang="en-US" b="1" dirty="0">
                <a:latin typeface="Times New Roman" panose="02020603050405020304"/>
                <a:cs typeface="Segoe UI" panose="020B0502040204020203"/>
              </a:rPr>
              <a:t>Batch No:</a:t>
            </a:r>
            <a:r>
              <a:rPr lang="en-IN" altLang="en-US" b="1" dirty="0">
                <a:latin typeface="Times New Roman" panose="02020603050405020304"/>
                <a:cs typeface="Segoe UI" panose="020B0502040204020203"/>
              </a:rPr>
              <a:t> </a:t>
            </a:r>
            <a:r>
              <a:rPr lang="en-IN" altLang="en-US" dirty="0">
                <a:latin typeface="Times New Roman" panose="02020603050405020304"/>
                <a:cs typeface="Segoe UI" panose="020B0502040204020203"/>
              </a:rPr>
              <a:t>09</a:t>
            </a:r>
            <a:endParaRPr lang="en-US" dirty="0">
              <a:latin typeface="Times New Roman" panose="02020603050405020304"/>
              <a:cs typeface="Segoe UI" panose="020B0502040204020203"/>
            </a:endParaRPr>
          </a:p>
          <a:p>
            <a:pPr marL="342900" indent="-342900">
              <a:buAutoNum type="arabicPeriod"/>
            </a:pPr>
            <a:r>
              <a:rPr lang="en-US" dirty="0">
                <a:latin typeface="Times New Roman" panose="02020603050405020304"/>
                <a:cs typeface="Arial" panose="020B0604020202020204"/>
              </a:rPr>
              <a:t>H. No: 227R</a:t>
            </a:r>
            <a:r>
              <a:rPr lang="en-IN" altLang="en-US" dirty="0">
                <a:latin typeface="Times New Roman" panose="02020603050405020304"/>
                <a:cs typeface="Arial" panose="020B0604020202020204"/>
              </a:rPr>
              <a:t>1A12A4</a:t>
            </a:r>
            <a:r>
              <a:rPr lang="en-US" dirty="0">
                <a:latin typeface="Times New Roman" panose="02020603050405020304"/>
                <a:cs typeface="Arial" panose="020B0604020202020204"/>
              </a:rPr>
              <a:t>                           Name: </a:t>
            </a:r>
            <a:r>
              <a:rPr lang="en-IN" altLang="en-US" dirty="0">
                <a:latin typeface="Times New Roman" panose="02020603050405020304"/>
                <a:cs typeface="Arial" panose="020B0604020202020204"/>
              </a:rPr>
              <a:t>L. Akshitha</a:t>
            </a:r>
          </a:p>
          <a:p>
            <a:pPr marL="342900" indent="-342900">
              <a:buAutoNum type="arabicPeriod"/>
            </a:pPr>
            <a:r>
              <a:rPr lang="en-US" dirty="0">
                <a:latin typeface="Times New Roman" panose="02020603050405020304"/>
                <a:cs typeface="Arial" panose="020B0604020202020204"/>
              </a:rPr>
              <a:t>H. No: 227R1A</a:t>
            </a:r>
            <a:r>
              <a:rPr lang="en-IN" altLang="en-US" dirty="0">
                <a:latin typeface="Times New Roman" panose="02020603050405020304"/>
                <a:cs typeface="Arial" panose="020B0604020202020204"/>
              </a:rPr>
              <a:t>1268</a:t>
            </a:r>
            <a:r>
              <a:rPr lang="en-US" dirty="0">
                <a:latin typeface="Times New Roman" panose="02020603050405020304"/>
                <a:cs typeface="Arial" panose="020B0604020202020204"/>
              </a:rPr>
              <a:t>                           </a:t>
            </a:r>
            <a:r>
              <a:rPr lang="en-IN" altLang="en-US" dirty="0">
                <a:latin typeface="Times New Roman" panose="02020603050405020304"/>
                <a:cs typeface="Arial" panose="020B0604020202020204"/>
              </a:rPr>
              <a:t> </a:t>
            </a:r>
            <a:r>
              <a:rPr lang="en-US" dirty="0">
                <a:latin typeface="Times New Roman" panose="02020603050405020304"/>
                <a:cs typeface="Arial" panose="020B0604020202020204"/>
              </a:rPr>
              <a:t>Name:</a:t>
            </a:r>
            <a:r>
              <a:rPr lang="en-IN" altLang="en-US" dirty="0">
                <a:latin typeface="Times New Roman" panose="02020603050405020304"/>
                <a:cs typeface="Arial" panose="020B0604020202020204"/>
              </a:rPr>
              <a:t> A.Vivek Vardhan</a:t>
            </a:r>
          </a:p>
          <a:p>
            <a:pPr marL="342900" indent="-342900">
              <a:buAutoNum type="arabicPeriod"/>
            </a:pPr>
            <a:r>
              <a:rPr lang="en-IN" altLang="en-US" dirty="0">
                <a:latin typeface="Times New Roman" panose="02020603050405020304"/>
                <a:cs typeface="Arial" panose="020B0604020202020204"/>
              </a:rPr>
              <a:t>H. No: 227R1A1276                            Name: CH.Srujan</a:t>
            </a:r>
            <a:r>
              <a:rPr lang="en-US" dirty="0">
                <a:latin typeface="Times New Roman" panose="02020603050405020304"/>
                <a:cs typeface="Segoe UI" panose="020B0502040204020203"/>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314903" y="339067"/>
            <a:ext cx="5339984" cy="896197"/>
            <a:chOff x="0" y="-19050"/>
            <a:chExt cx="2109623" cy="4937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19050"/>
              <a:ext cx="2109623" cy="493798"/>
            </a:xfrm>
            <a:prstGeom prst="rect">
              <a:avLst/>
            </a:prstGeom>
            <a:grpFill/>
          </p:spPr>
          <p:txBody>
            <a:bodyPr lIns="33867" tIns="33867" rIns="33867" bIns="33867" rtlCol="0" anchor="ctr"/>
            <a:lstStyle/>
            <a:p>
              <a:pPr algn="ctr">
                <a:lnSpc>
                  <a:spcPts val="1775"/>
                </a:lnSpc>
                <a:spcBef>
                  <a:spcPct val="0"/>
                </a:spcBef>
              </a:pPr>
              <a:endParaRPr sz="1200" dirty="0"/>
            </a:p>
          </p:txBody>
        </p:sp>
      </p:grpSp>
      <p:sp>
        <p:nvSpPr>
          <p:cNvPr id="11" name="TextBox 11"/>
          <p:cNvSpPr txBox="1"/>
          <p:nvPr/>
        </p:nvSpPr>
        <p:spPr>
          <a:xfrm>
            <a:off x="2837124" y="301667"/>
            <a:ext cx="6133705" cy="680443"/>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INDEX</a:t>
            </a:r>
          </a:p>
        </p:txBody>
      </p:sp>
      <p:sp>
        <p:nvSpPr>
          <p:cNvPr id="13" name="TextBox 13"/>
          <p:cNvSpPr txBox="1"/>
          <p:nvPr/>
        </p:nvSpPr>
        <p:spPr>
          <a:xfrm>
            <a:off x="1145989" y="1664799"/>
            <a:ext cx="5339984" cy="5482142"/>
          </a:xfrm>
          <a:prstGeom prst="rect">
            <a:avLst/>
          </a:prstGeom>
        </p:spPr>
        <p:txBody>
          <a:bodyPr wrap="square" lIns="0" tIns="0" rIns="0" bIns="0" rtlCol="0" anchor="t">
            <a:spAutoFit/>
          </a:bodyPr>
          <a:lstStyle/>
          <a:p>
            <a:pPr marL="389890" lvl="1" indent="-194945" algn="just">
              <a:lnSpc>
                <a:spcPct val="150000"/>
              </a:lnSpc>
              <a:buFont typeface="Arial" panose="020B0604020202020204"/>
              <a:buChar char="•"/>
            </a:pPr>
            <a:r>
              <a:rPr lang="en-US" sz="2200" dirty="0">
                <a:solidFill>
                  <a:srgbClr val="000000"/>
                </a:solidFill>
                <a:latin typeface="Times New Roman" panose="02020603050405020304" pitchFamily="18" charset="0"/>
                <a:cs typeface="Times New Roman" panose="02020603050405020304" pitchFamily="18" charset="0"/>
              </a:rPr>
              <a:t>Introduction and overview</a:t>
            </a:r>
          </a:p>
          <a:p>
            <a:pPr marL="389890" lvl="1" indent="-194945" algn="just">
              <a:lnSpc>
                <a:spcPct val="150000"/>
              </a:lnSpc>
              <a:buFont typeface="Arial" panose="020B0604020202020204"/>
              <a:buChar char="•"/>
            </a:pPr>
            <a:r>
              <a:rPr lang="en-IN" altLang="en-US" sz="2200" dirty="0">
                <a:solidFill>
                  <a:srgbClr val="000000"/>
                </a:solidFill>
                <a:latin typeface="Times New Roman" panose="02020603050405020304" pitchFamily="18" charset="0"/>
                <a:cs typeface="Times New Roman" panose="02020603050405020304" pitchFamily="18" charset="0"/>
              </a:rPr>
              <a:t>Existing System</a:t>
            </a:r>
          </a:p>
          <a:p>
            <a:pPr marL="389890" lvl="1" indent="-194945" algn="just">
              <a:lnSpc>
                <a:spcPct val="150000"/>
              </a:lnSpc>
              <a:buFont typeface="Arial" panose="020B0604020202020204"/>
              <a:buChar char="•"/>
            </a:pPr>
            <a:r>
              <a:rPr lang="en-IN" altLang="en-US" sz="2200" dirty="0">
                <a:solidFill>
                  <a:srgbClr val="000000"/>
                </a:solidFill>
                <a:latin typeface="Times New Roman" panose="02020603050405020304" pitchFamily="18" charset="0"/>
                <a:cs typeface="Times New Roman" panose="02020603050405020304" pitchFamily="18" charset="0"/>
              </a:rPr>
              <a:t>Existing System- Disadvantages</a:t>
            </a:r>
            <a:endParaRPr lang="en-US" sz="22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US" sz="2200" dirty="0">
                <a:solidFill>
                  <a:srgbClr val="000000"/>
                </a:solidFill>
                <a:latin typeface="Times New Roman" panose="02020603050405020304" pitchFamily="18" charset="0"/>
                <a:cs typeface="Times New Roman" panose="02020603050405020304" pitchFamily="18" charset="0"/>
              </a:rPr>
              <a:t>Proposed system</a:t>
            </a:r>
          </a:p>
          <a:p>
            <a:pPr marL="389890" lvl="1" indent="-194945" algn="just">
              <a:lnSpc>
                <a:spcPct val="150000"/>
              </a:lnSpc>
              <a:buFont typeface="Arial" panose="020B0604020202020204"/>
              <a:buChar char="•"/>
            </a:pPr>
            <a:r>
              <a:rPr lang="en-US" sz="2200" dirty="0">
                <a:solidFill>
                  <a:srgbClr val="000000"/>
                </a:solidFill>
                <a:latin typeface="Times New Roman" panose="02020603050405020304" pitchFamily="18" charset="0"/>
                <a:cs typeface="Times New Roman" panose="02020603050405020304" pitchFamily="18" charset="0"/>
              </a:rPr>
              <a:t>Proposed system – advantages</a:t>
            </a:r>
          </a:p>
          <a:p>
            <a:pPr marL="389890" lvl="1" indent="-194945" algn="just">
              <a:lnSpc>
                <a:spcPct val="150000"/>
              </a:lnSpc>
              <a:buFont typeface="Arial" panose="020B0604020202020204"/>
              <a:buChar char="•"/>
            </a:pPr>
            <a:r>
              <a:rPr lang="en-IN" altLang="en-US" sz="2200" dirty="0">
                <a:solidFill>
                  <a:srgbClr val="000000"/>
                </a:solidFill>
                <a:latin typeface="Times New Roman" panose="02020603050405020304" pitchFamily="18" charset="0"/>
                <a:cs typeface="Times New Roman" panose="02020603050405020304" pitchFamily="18" charset="0"/>
              </a:rPr>
              <a:t>Hardware and Software requirements</a:t>
            </a:r>
          </a:p>
          <a:p>
            <a:pPr marL="389890" lvl="1" indent="-194945" algn="just">
              <a:lnSpc>
                <a:spcPct val="150000"/>
              </a:lnSpc>
              <a:buFont typeface="Arial" panose="020B0604020202020204"/>
              <a:buChar char="•"/>
            </a:pPr>
            <a:r>
              <a:rPr lang="en-IN" altLang="en-US" sz="2200" dirty="0">
                <a:solidFill>
                  <a:srgbClr val="000000"/>
                </a:solidFill>
                <a:latin typeface="Times New Roman" panose="02020603050405020304" pitchFamily="18" charset="0"/>
                <a:cs typeface="Times New Roman" panose="02020603050405020304" pitchFamily="18" charset="0"/>
              </a:rPr>
              <a:t>Novelty of the Project</a:t>
            </a:r>
            <a:endParaRPr lang="en-US" sz="2200" dirty="0">
              <a:solidFill>
                <a:srgbClr val="000000"/>
              </a:solidFill>
              <a:latin typeface="Times New Roman" panose="02020603050405020304" pitchFamily="18" charset="0"/>
              <a:cs typeface="Times New Roman" panose="02020603050405020304" pitchFamily="18" charset="0"/>
            </a:endParaRPr>
          </a:p>
          <a:p>
            <a:pPr marL="389890" lvl="1" indent="-194945" algn="just">
              <a:lnSpc>
                <a:spcPct val="150000"/>
              </a:lnSpc>
              <a:buFont typeface="Arial" panose="020B0604020202020204"/>
              <a:buChar char="•"/>
            </a:pPr>
            <a:r>
              <a:rPr lang="en-US" sz="2200" dirty="0">
                <a:solidFill>
                  <a:srgbClr val="000000"/>
                </a:solidFill>
                <a:latin typeface="Times New Roman" panose="02020603050405020304" pitchFamily="18" charset="0"/>
                <a:cs typeface="Times New Roman" panose="02020603050405020304" pitchFamily="18" charset="0"/>
              </a:rPr>
              <a:t>System Architecture</a:t>
            </a:r>
          </a:p>
          <a:p>
            <a:pPr marL="194945" lvl="1" algn="just">
              <a:lnSpc>
                <a:spcPct val="150000"/>
              </a:lnSpc>
            </a:pPr>
            <a:endParaRPr lang="en-US" sz="2135" dirty="0">
              <a:solidFill>
                <a:srgbClr val="000000"/>
              </a:solidFill>
              <a:latin typeface="Times New Roman" panose="02020603050405020304" pitchFamily="18" charset="0"/>
              <a:cs typeface="Times New Roman" panose="02020603050405020304" pitchFamily="18" charset="0"/>
            </a:endParaRPr>
          </a:p>
          <a:p>
            <a:pPr marL="194945" lvl="1" algn="just">
              <a:lnSpc>
                <a:spcPct val="150000"/>
              </a:lnSpc>
            </a:pPr>
            <a:endParaRPr lang="en-US" sz="2135" dirty="0">
              <a:solidFill>
                <a:srgbClr val="000000"/>
              </a:solidFill>
              <a:latin typeface="Times New Roman Bold" panose="02020803070505020304" pitchFamily="18" charset="0"/>
              <a:cs typeface="Times New Roman Bold" panose="02020803070505020304" pitchFamily="18" charset="0"/>
            </a:endParaRPr>
          </a:p>
          <a:p>
            <a:pPr marL="389890" lvl="1" indent="-194945" algn="just">
              <a:lnSpc>
                <a:spcPct val="150000"/>
              </a:lnSpc>
              <a:buFont typeface="Arial" panose="020B0604020202020204"/>
              <a:buChar char="•"/>
            </a:pPr>
            <a:endParaRPr lang="en-US" sz="2135" dirty="0">
              <a:solidFill>
                <a:srgbClr val="000000"/>
              </a:solidFill>
              <a:latin typeface="Times New Roman Bold" panose="02020803070505020304" pitchFamily="18" charset="0"/>
              <a:cs typeface="Times New Roman Bold" panose="02020803070505020304" pitchFamily="18" charset="0"/>
            </a:endParaRPr>
          </a:p>
        </p:txBody>
      </p:sp>
      <p:pic>
        <p:nvPicPr>
          <p:cNvPr id="2" name="Picture 1" descr="A logo with a flower&#10;&#10;Description automatically generated">
            <a:extLst>
              <a:ext uri="{FF2B5EF4-FFF2-40B4-BE49-F238E27FC236}">
                <a16:creationId xmlns:a16="http://schemas.microsoft.com/office/drawing/2014/main" id="{BBDD28DF-2B8D-393C-D3E1-31E88464A48A}"/>
              </a:ext>
            </a:extLst>
          </p:cNvPr>
          <p:cNvPicPr>
            <a:picLocks noChangeAspect="1"/>
          </p:cNvPicPr>
          <p:nvPr/>
        </p:nvPicPr>
        <p:blipFill>
          <a:blip r:embed="rId2"/>
          <a:stretch>
            <a:fillRect/>
          </a:stretch>
        </p:blipFill>
        <p:spPr>
          <a:xfrm>
            <a:off x="10613360" y="98858"/>
            <a:ext cx="1341035" cy="1162819"/>
          </a:xfrm>
          <a:prstGeom prst="rect">
            <a:avLst/>
          </a:prstGeom>
        </p:spPr>
      </p:pic>
      <p:sp>
        <p:nvSpPr>
          <p:cNvPr id="3" name="TextBox 2">
            <a:extLst>
              <a:ext uri="{FF2B5EF4-FFF2-40B4-BE49-F238E27FC236}">
                <a16:creationId xmlns:a16="http://schemas.microsoft.com/office/drawing/2014/main" id="{2B7FD165-65EE-1FF2-428F-4AE673391612}"/>
              </a:ext>
            </a:extLst>
          </p:cNvPr>
          <p:cNvSpPr txBox="1"/>
          <p:nvPr/>
        </p:nvSpPr>
        <p:spPr>
          <a:xfrm>
            <a:off x="6586112" y="1635817"/>
            <a:ext cx="5230761" cy="3586366"/>
          </a:xfrm>
          <a:prstGeom prst="rect">
            <a:avLst/>
          </a:prstGeom>
          <a:noFill/>
        </p:spPr>
        <p:txBody>
          <a:bodyPr wrap="square" rtlCol="0">
            <a:spAutoFit/>
          </a:bodyPr>
          <a:lstStyle/>
          <a:p>
            <a:pPr marL="537845" lvl="1" indent="-342900">
              <a:lnSpc>
                <a:spcPct val="150000"/>
              </a:lnSpc>
              <a:buFont typeface="Arial" panose="020B0604020202020204" pitchFamily="34" charset="0"/>
              <a:buChar char="•"/>
            </a:pPr>
            <a:r>
              <a:rPr lang="en-US" sz="2200" dirty="0">
                <a:solidFill>
                  <a:srgbClr val="000000"/>
                </a:solidFill>
                <a:latin typeface="Times New Roman" panose="02020603050405020304" pitchFamily="18" charset="0"/>
                <a:cs typeface="Times New Roman" panose="02020603050405020304" pitchFamily="18" charset="0"/>
              </a:rPr>
              <a:t>Modules</a:t>
            </a:r>
          </a:p>
          <a:p>
            <a:pPr marL="537845" lvl="1" indent="-342900">
              <a:lnSpc>
                <a:spcPct val="150000"/>
              </a:lnSpc>
              <a:buFont typeface="Arial" panose="020B0604020202020204" pitchFamily="34" charset="0"/>
              <a:buChar char="•"/>
            </a:pPr>
            <a:r>
              <a:rPr lang="en-IN" altLang="en-US" sz="2200" dirty="0">
                <a:solidFill>
                  <a:srgbClr val="000000"/>
                </a:solidFill>
                <a:latin typeface="Times New Roman" panose="02020603050405020304" pitchFamily="18" charset="0"/>
                <a:cs typeface="Times New Roman" panose="02020603050405020304" pitchFamily="18" charset="0"/>
              </a:rPr>
              <a:t>UML Diagrams</a:t>
            </a:r>
          </a:p>
          <a:p>
            <a:pPr marL="537845" lvl="1"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Source Code</a:t>
            </a:r>
          </a:p>
          <a:p>
            <a:pPr marL="537845" lvl="1"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Results</a:t>
            </a:r>
          </a:p>
          <a:p>
            <a:pPr marL="537845" lvl="1"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Conclusion &amp; Future Enhancement</a:t>
            </a:r>
          </a:p>
          <a:p>
            <a:pPr marL="537845" lvl="1"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References</a:t>
            </a:r>
          </a:p>
          <a:p>
            <a:pPr marL="537845" lvl="1"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Link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1253450"/>
            <a:ext cx="10820400" cy="4351101"/>
            <a:chOff x="0" y="0"/>
            <a:chExt cx="4274726" cy="17189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grpSp>
        <p:nvGrpSpPr>
          <p:cNvPr id="5" name="Group 5"/>
          <p:cNvGrpSpPr/>
          <p:nvPr/>
        </p:nvGrpSpPr>
        <p:grpSpPr>
          <a:xfrm>
            <a:off x="3426008" y="713232"/>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2861188" y="638114"/>
            <a:ext cx="6469626" cy="1475532"/>
          </a:xfrm>
          <a:prstGeom prst="rect">
            <a:avLst/>
          </a:prstGeom>
        </p:spPr>
        <p:txBody>
          <a:bodyPr wrap="square" lIns="0" tIns="0" rIns="0" bIns="0" rtlCol="0" anchor="t">
            <a:spAutoFit/>
          </a:bodyPr>
          <a:lstStyle/>
          <a:p>
            <a:pPr algn="ctr">
              <a:lnSpc>
                <a:spcPts val="6165"/>
              </a:lnSpc>
            </a:pPr>
            <a:r>
              <a:rPr lang="en-US" sz="2800" dirty="0">
                <a:solidFill>
                  <a:srgbClr val="000000"/>
                </a:solidFill>
                <a:latin typeface="Times New Roman Bold" panose="02030802070405020303"/>
              </a:rPr>
              <a:t>INTRODUCTION &amp; OVERVIEW</a:t>
            </a:r>
          </a:p>
          <a:p>
            <a:pPr algn="ctr">
              <a:lnSpc>
                <a:spcPts val="6165"/>
              </a:lnSpc>
            </a:pPr>
            <a:endParaRPr lang="en-US" sz="2800" dirty="0">
              <a:solidFill>
                <a:srgbClr val="000000"/>
              </a:solidFill>
              <a:latin typeface="Times New Roman Bold" panose="02030802070405020303"/>
            </a:endParaRPr>
          </a:p>
        </p:txBody>
      </p:sp>
      <p:sp>
        <p:nvSpPr>
          <p:cNvPr id="9" name="Rectangle 2"/>
          <p:cNvSpPr>
            <a:spLocks noChangeArrowheads="1"/>
          </p:cNvSpPr>
          <p:nvPr/>
        </p:nvSpPr>
        <p:spPr bwMode="auto">
          <a:xfrm>
            <a:off x="865235" y="2334428"/>
            <a:ext cx="10461523"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introduces an NLP-based system that automatically classifies infectious disease reports from online news and social media. It starts by cleaning and preparing the text through processes like tokenization, lemmatization, and noise removal. Then, the ELECTRA model is used to extract meaningful features that capture both the grammatical and contextual meaning of the words related to disease outbreaks. These features are analyzed using an ensemble learning approach, which combines several machine learning models to improve accuracy and handle unbalanced data. The proposed system ensures faster and more reliable classification of outbreak data, reducing human effort and helping public health organizations respond quickly and effectively during epidemics and pandemics.</a:t>
            </a:r>
          </a:p>
        </p:txBody>
      </p:sp>
      <p:pic>
        <p:nvPicPr>
          <p:cNvPr id="8" name="Picture 7" descr="A logo with a flower&#10;&#10;Description automatically generated">
            <a:extLst>
              <a:ext uri="{FF2B5EF4-FFF2-40B4-BE49-F238E27FC236}">
                <a16:creationId xmlns:a16="http://schemas.microsoft.com/office/drawing/2014/main" id="{CBC517E3-07E2-FF7A-B214-06B33B9B6ED8}"/>
              </a:ext>
            </a:extLst>
          </p:cNvPr>
          <p:cNvPicPr>
            <a:picLocks noChangeAspect="1"/>
          </p:cNvPicPr>
          <p:nvPr/>
        </p:nvPicPr>
        <p:blipFill>
          <a:blip r:embed="rId2"/>
          <a:stretch>
            <a:fillRect/>
          </a:stretch>
        </p:blipFill>
        <p:spPr>
          <a:xfrm>
            <a:off x="10719061" y="213127"/>
            <a:ext cx="1351959" cy="11722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8" y="646628"/>
            <a:ext cx="5339984" cy="825102"/>
            <a:chOff x="0" y="0"/>
            <a:chExt cx="2109623" cy="400405"/>
          </a:xfrm>
          <a:solidFill>
            <a:schemeClr val="tx2">
              <a:lumMod val="20000"/>
              <a:lumOff val="80000"/>
            </a:schemeClr>
          </a:solidFill>
        </p:grpSpPr>
        <p:sp>
          <p:nvSpPr>
            <p:cNvPr id="6" name="Freeform 6"/>
            <p:cNvSpPr/>
            <p:nvPr/>
          </p:nvSpPr>
          <p:spPr>
            <a:xfrm>
              <a:off x="0" y="0"/>
              <a:ext cx="2109623" cy="400405"/>
            </a:xfrm>
            <a:custGeom>
              <a:avLst/>
              <a:gdLst/>
              <a:ahLst/>
              <a:cxnLst/>
              <a:rect l="l" t="t" r="r" b="b"/>
              <a:pathLst>
                <a:path w="2109623" h="400405">
                  <a:moveTo>
                    <a:pt x="0" y="0"/>
                  </a:moveTo>
                  <a:lnTo>
                    <a:pt x="2109623" y="0"/>
                  </a:lnTo>
                  <a:lnTo>
                    <a:pt x="2109623" y="400405"/>
                  </a:lnTo>
                  <a:lnTo>
                    <a:pt x="0" y="400405"/>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38505"/>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1" name="TextBox 11"/>
          <p:cNvSpPr txBox="1"/>
          <p:nvPr/>
        </p:nvSpPr>
        <p:spPr>
          <a:xfrm>
            <a:off x="3029148" y="520700"/>
            <a:ext cx="6133705" cy="790575"/>
          </a:xfrm>
          <a:prstGeom prst="rect">
            <a:avLst/>
          </a:prstGeom>
        </p:spPr>
        <p:txBody>
          <a:bodyPr lIns="0" tIns="0" rIns="0" bIns="0" rtlCol="0" anchor="t">
            <a:spAutoFit/>
          </a:bodyPr>
          <a:lstStyle/>
          <a:p>
            <a:pPr algn="ctr">
              <a:lnSpc>
                <a:spcPts val="6165"/>
              </a:lnSpc>
            </a:pPr>
            <a:r>
              <a:rPr lang="en-IN" altLang="en-US" sz="2800" dirty="0">
                <a:solidFill>
                  <a:srgbClr val="000000"/>
                </a:solidFill>
                <a:latin typeface="Times New Roman Bold" panose="02030802070405020303"/>
              </a:rPr>
              <a:t>EXISTING SYSTEM</a:t>
            </a:r>
          </a:p>
        </p:txBody>
      </p:sp>
      <p:sp>
        <p:nvSpPr>
          <p:cNvPr id="3" name="Freeform 3"/>
          <p:cNvSpPr/>
          <p:nvPr/>
        </p:nvSpPr>
        <p:spPr>
          <a:xfrm>
            <a:off x="592282" y="1986199"/>
            <a:ext cx="10820400" cy="4351101"/>
          </a:xfrm>
          <a:custGeom>
            <a:avLst/>
            <a:gdLst/>
            <a:ahLst/>
            <a:cxnLst/>
            <a:rect l="l" t="t" r="r" b="b"/>
            <a:pathLst>
              <a:path w="4274726" h="1718953">
                <a:moveTo>
                  <a:pt x="0" y="0"/>
                </a:moveTo>
                <a:lnTo>
                  <a:pt x="4274726" y="0"/>
                </a:lnTo>
                <a:lnTo>
                  <a:pt x="4274726" y="1718953"/>
                </a:lnTo>
                <a:lnTo>
                  <a:pt x="0" y="1718953"/>
                </a:lnTo>
                <a:close/>
              </a:path>
            </a:pathLst>
          </a:custGeom>
          <a:solidFill>
            <a:schemeClr val="bg1"/>
          </a:solidFill>
        </p:spPr>
        <p:txBody>
          <a:bodyPr/>
          <a:lstStyle/>
          <a:p>
            <a:endParaRPr lang="en-IN"/>
          </a:p>
        </p:txBody>
      </p:sp>
      <p:sp>
        <p:nvSpPr>
          <p:cNvPr id="12" name="TextBox 4"/>
          <p:cNvSpPr txBox="1"/>
          <p:nvPr/>
        </p:nvSpPr>
        <p:spPr>
          <a:xfrm>
            <a:off x="786245" y="1587271"/>
            <a:ext cx="10820400" cy="4447542"/>
          </a:xfrm>
          <a:prstGeom prst="rect">
            <a:avLst/>
          </a:prstGeom>
          <a:solidFill>
            <a:schemeClr val="bg1"/>
          </a:solidFill>
        </p:spPr>
        <p:txBody>
          <a:bodyPr lIns="33867" tIns="33867" rIns="33867" bIns="33867" rtlCol="0" anchor="ctr"/>
          <a:lstStyle/>
          <a:p>
            <a:pPr algn="ctr">
              <a:lnSpc>
                <a:spcPts val="1775"/>
              </a:lnSpc>
              <a:spcBef>
                <a:spcPct val="0"/>
              </a:spcBef>
            </a:pPr>
            <a:endParaRPr sz="1200"/>
          </a:p>
        </p:txBody>
      </p:sp>
      <p:sp>
        <p:nvSpPr>
          <p:cNvPr id="15" name="TextBox 14"/>
          <p:cNvSpPr txBox="1"/>
          <p:nvPr/>
        </p:nvSpPr>
        <p:spPr>
          <a:xfrm>
            <a:off x="980209" y="2013813"/>
            <a:ext cx="10432473" cy="3276600"/>
          </a:xfrm>
          <a:prstGeom prst="rect">
            <a:avLst/>
          </a:prstGeom>
          <a:noFill/>
        </p:spPr>
        <p:txBody>
          <a:bodyPr wrap="square" rtlCol="0">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Existing outbreak monitoring systems mostly rely on manual screening and traditional algorithms.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Human experts must filter, read, and categorize reports from thousands of online sources.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Some older systems use keyword searches or rule-based filtering, but these methods lack contextual understanding.</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Such systems cannot effectively handle large amounts of multilingual and unstructured data.</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Manual monitoring is time-consuming, error-prone, and inefficient.</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r>
              <a:rPr lang="en-US" altLang="en-US" dirty="0">
                <a:ln>
                  <a:noFill/>
                </a:ln>
                <a:effectLst/>
                <a:latin typeface="Times New Roman" panose="02020603050405020304" pitchFamily="18" charset="0"/>
                <a:cs typeface="Times New Roman" panose="02020603050405020304" pitchFamily="18" charset="0"/>
                <a:sym typeface="+mn-ea"/>
              </a:rPr>
              <a:t>These limitations often result in missed outbreak signals and delayed detection of diseases.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IN" dirty="0">
              <a:latin typeface="Times New Roman" panose="02020603050405020304" pitchFamily="18" charset="0"/>
              <a:cs typeface="Times New Roman" panose="02020603050405020304" pitchFamily="18" charset="0"/>
            </a:endParaRPr>
          </a:p>
        </p:txBody>
      </p:sp>
      <p:pic>
        <p:nvPicPr>
          <p:cNvPr id="2" name="Picture 1" descr="A logo with a flower&#10;&#10;Description automatically generated">
            <a:extLst>
              <a:ext uri="{FF2B5EF4-FFF2-40B4-BE49-F238E27FC236}">
                <a16:creationId xmlns:a16="http://schemas.microsoft.com/office/drawing/2014/main" id="{6770C4B8-B30D-FB3C-544E-F4B9E2DDF6EB}"/>
              </a:ext>
            </a:extLst>
          </p:cNvPr>
          <p:cNvPicPr>
            <a:picLocks noChangeAspect="1"/>
          </p:cNvPicPr>
          <p:nvPr/>
        </p:nvPicPr>
        <p:blipFill>
          <a:blip r:embed="rId2"/>
          <a:stretch>
            <a:fillRect/>
          </a:stretch>
        </p:blipFill>
        <p:spPr>
          <a:xfrm>
            <a:off x="10592531" y="238542"/>
            <a:ext cx="1422189" cy="12331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349885" y="463334"/>
            <a:ext cx="5339984" cy="1153486"/>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3" name="TextBox 13"/>
          <p:cNvSpPr txBox="1"/>
          <p:nvPr/>
        </p:nvSpPr>
        <p:spPr>
          <a:xfrm>
            <a:off x="3349655" y="463430"/>
            <a:ext cx="5807649" cy="1005205"/>
          </a:xfrm>
          <a:prstGeom prst="rect">
            <a:avLst/>
          </a:prstGeom>
        </p:spPr>
        <p:txBody>
          <a:bodyPr wrap="square" lIns="0" tIns="0" rIns="0" bIns="0" rtlCol="0" anchor="t">
            <a:spAutoFit/>
          </a:bodyPr>
          <a:lstStyle/>
          <a:p>
            <a:pPr algn="ctr">
              <a:lnSpc>
                <a:spcPts val="3920"/>
              </a:lnSpc>
            </a:pPr>
            <a:r>
              <a:rPr lang="en-IN" altLang="en-US" sz="2800" dirty="0">
                <a:solidFill>
                  <a:srgbClr val="000000"/>
                </a:solidFill>
                <a:latin typeface="Times New Roman Bold" panose="02030802070405020303"/>
              </a:rPr>
              <a:t>EXISTING</a:t>
            </a:r>
            <a:r>
              <a:rPr lang="en-US" sz="2800" dirty="0">
                <a:solidFill>
                  <a:srgbClr val="000000"/>
                </a:solidFill>
                <a:latin typeface="Times New Roman Bold" panose="02030802070405020303"/>
              </a:rPr>
              <a:t> SYSTEM -</a:t>
            </a:r>
          </a:p>
          <a:p>
            <a:pPr algn="ctr">
              <a:lnSpc>
                <a:spcPts val="3920"/>
              </a:lnSpc>
            </a:pPr>
            <a:r>
              <a:rPr lang="en-IN" altLang="en-US" sz="2800" dirty="0">
                <a:solidFill>
                  <a:srgbClr val="000000"/>
                </a:solidFill>
                <a:latin typeface="Times New Roman Bold" panose="02030802070405020303"/>
              </a:rPr>
              <a:t>DIS</a:t>
            </a:r>
            <a:r>
              <a:rPr lang="en-US" sz="2800" dirty="0">
                <a:solidFill>
                  <a:srgbClr val="000000"/>
                </a:solidFill>
                <a:latin typeface="Times New Roman Bold" panose="02030802070405020303"/>
              </a:rPr>
              <a:t>ADVANTAGES</a:t>
            </a:r>
          </a:p>
        </p:txBody>
      </p:sp>
      <p:grpSp>
        <p:nvGrpSpPr>
          <p:cNvPr id="2" name="Group 2"/>
          <p:cNvGrpSpPr/>
          <p:nvPr/>
        </p:nvGrpSpPr>
        <p:grpSpPr>
          <a:xfrm>
            <a:off x="541175" y="1665954"/>
            <a:ext cx="10957405" cy="4531811"/>
            <a:chOff x="-60231" y="-38100"/>
            <a:chExt cx="4334957" cy="17570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60231" y="-38100"/>
              <a:ext cx="4334957" cy="1757053"/>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0" name="TextBox 9"/>
          <p:cNvSpPr txBox="1"/>
          <p:nvPr/>
        </p:nvSpPr>
        <p:spPr>
          <a:xfrm>
            <a:off x="1316735" y="2557668"/>
            <a:ext cx="9782633" cy="2999740"/>
          </a:xfrm>
          <a:prstGeom prst="rect">
            <a:avLst/>
          </a:prstGeom>
          <a:noFill/>
        </p:spPr>
        <p:txBody>
          <a:bodyPr wrap="square">
            <a:spAutoFit/>
          </a:bodyPr>
          <a:lstStyle/>
          <a:p>
            <a:pPr marL="285750" lvl="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sym typeface="+mn-ea"/>
              </a:rPr>
              <a:t>Manual monitoring is highly time-consuming and inefficient, with more than 40% reporting delays recorded in outbreak surveillance.</a:t>
            </a:r>
            <a:endParaRPr lang="en-IN" dirty="0">
              <a:latin typeface="Times New Roman" panose="020206030504050203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sym typeface="+mn-ea"/>
              </a:rPr>
              <a:t>Traditional algorithms lack contextual understanding and often misclassify or miss subtle signals in textual outbreak data.</a:t>
            </a:r>
            <a:endParaRPr lang="en-IN" dirty="0">
              <a:latin typeface="Times New Roman" panose="02020603050405020304" pitchFamily="18" charset="0"/>
              <a:cs typeface="Times New Roman" panose="02020603050405020304" pitchFamily="18" charset="0"/>
            </a:endParaRPr>
          </a:p>
          <a:p>
            <a:pPr marL="285750" lvl="0" indent="-285750" algn="just">
              <a:lnSpc>
                <a:spcPct val="150000"/>
              </a:lnSpc>
              <a:buFont typeface="Wingdings" panose="05000000000000000000" pitchFamily="2" charset="2"/>
              <a:buChar char="§"/>
            </a:pPr>
            <a:r>
              <a:rPr lang="en-IN" dirty="0">
                <a:latin typeface="Times New Roman" panose="02020603050405020304" pitchFamily="18" charset="0"/>
                <a:cs typeface="Times New Roman" panose="02020603050405020304" pitchFamily="18" charset="0"/>
                <a:sym typeface="+mn-ea"/>
              </a:rPr>
              <a:t>Human dependency introduces subjectivity and inconsistency, leading to poor reliability and scalability in real-world outbreak detection.</a:t>
            </a:r>
            <a:endParaRPr lang="en-IN"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pPr>
            <a:endParaRPr lang="en-IN" sz="1800" kern="100" dirty="0">
              <a:effectLst/>
              <a:latin typeface="Aptos" panose="020B0004020202020204" pitchFamily="34" charset="0"/>
              <a:ea typeface="DengXian" panose="02010600030101010101" pitchFamily="2" charset="-122"/>
              <a:cs typeface="Times New Roman" panose="02020603050405020304" pitchFamily="18" charset="0"/>
            </a:endParaRPr>
          </a:p>
        </p:txBody>
      </p:sp>
      <p:pic>
        <p:nvPicPr>
          <p:cNvPr id="8" name="Picture 7" descr="A logo with a flower&#10;&#10;Description automatically generated">
            <a:extLst>
              <a:ext uri="{FF2B5EF4-FFF2-40B4-BE49-F238E27FC236}">
                <a16:creationId xmlns:a16="http://schemas.microsoft.com/office/drawing/2014/main" id="{1A96CA49-3A7E-16A5-4856-ADAD87D98AB0}"/>
              </a:ext>
            </a:extLst>
          </p:cNvPr>
          <p:cNvPicPr>
            <a:picLocks noChangeAspect="1"/>
          </p:cNvPicPr>
          <p:nvPr/>
        </p:nvPicPr>
        <p:blipFill>
          <a:blip r:embed="rId2"/>
          <a:stretch>
            <a:fillRect/>
          </a:stretch>
        </p:blipFill>
        <p:spPr>
          <a:xfrm>
            <a:off x="10543369" y="214013"/>
            <a:ext cx="1441492" cy="12499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8" y="647808"/>
            <a:ext cx="5339984" cy="775168"/>
            <a:chOff x="0" y="0"/>
            <a:chExt cx="2109623" cy="306239"/>
          </a:xfrm>
          <a:solidFill>
            <a:schemeClr val="tx2">
              <a:lumMod val="20000"/>
              <a:lumOff val="80000"/>
            </a:schemeClr>
          </a:solidFill>
        </p:grpSpPr>
        <p:sp>
          <p:nvSpPr>
            <p:cNvPr id="6" name="Freeform 6"/>
            <p:cNvSpPr/>
            <p:nvPr/>
          </p:nvSpPr>
          <p:spPr>
            <a:xfrm>
              <a:off x="0" y="0"/>
              <a:ext cx="2109623" cy="306239"/>
            </a:xfrm>
            <a:custGeom>
              <a:avLst/>
              <a:gdLst/>
              <a:ahLst/>
              <a:cxnLst/>
              <a:rect l="l" t="t" r="r" b="b"/>
              <a:pathLst>
                <a:path w="2109623" h="306239">
                  <a:moveTo>
                    <a:pt x="0" y="0"/>
                  </a:moveTo>
                  <a:lnTo>
                    <a:pt x="2109623" y="0"/>
                  </a:lnTo>
                  <a:lnTo>
                    <a:pt x="2109623" y="306239"/>
                  </a:lnTo>
                  <a:lnTo>
                    <a:pt x="0" y="306239"/>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344339"/>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3" name="TextBox 13"/>
          <p:cNvSpPr txBox="1"/>
          <p:nvPr/>
        </p:nvSpPr>
        <p:spPr>
          <a:xfrm>
            <a:off x="3570530" y="637452"/>
            <a:ext cx="5050939" cy="530017"/>
          </a:xfrm>
          <a:prstGeom prst="rect">
            <a:avLst/>
          </a:prstGeom>
        </p:spPr>
        <p:txBody>
          <a:bodyPr lIns="0" tIns="0" rIns="0" bIns="0" rtlCol="0" anchor="t">
            <a:spAutoFit/>
          </a:bodyPr>
          <a:lstStyle/>
          <a:p>
            <a:pPr algn="ctr">
              <a:lnSpc>
                <a:spcPts val="4525"/>
              </a:lnSpc>
            </a:pPr>
            <a:r>
              <a:rPr lang="en-US" sz="3235" dirty="0">
                <a:solidFill>
                  <a:srgbClr val="000000"/>
                </a:solidFill>
                <a:latin typeface="Times New Roman Bold" panose="02030802070405020303"/>
              </a:rPr>
              <a:t>PROPOSED SYSTEM</a:t>
            </a:r>
          </a:p>
        </p:txBody>
      </p:sp>
      <p:grpSp>
        <p:nvGrpSpPr>
          <p:cNvPr id="3" name="Group 2"/>
          <p:cNvGrpSpPr/>
          <p:nvPr/>
        </p:nvGrpSpPr>
        <p:grpSpPr>
          <a:xfrm>
            <a:off x="571732" y="178359"/>
            <a:ext cx="11341808" cy="5951293"/>
            <a:chOff x="188481" y="-38100"/>
            <a:chExt cx="4366382" cy="2128351"/>
          </a:xfrm>
        </p:grpSpPr>
        <p:sp>
          <p:nvSpPr>
            <p:cNvPr id="4" name="Freeform 3"/>
            <p:cNvSpPr/>
            <p:nvPr/>
          </p:nvSpPr>
          <p:spPr>
            <a:xfrm>
              <a:off x="280137" y="371298"/>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chemeClr val="bg1"/>
            </a:solidFill>
          </p:spPr>
          <p:txBody>
            <a:bodyPr/>
            <a:lstStyle/>
            <a:p>
              <a:endParaRPr lang="en-IN" dirty="0"/>
            </a:p>
          </p:txBody>
        </p:sp>
        <p:sp>
          <p:nvSpPr>
            <p:cNvPr id="8" name="TextBox 4"/>
            <p:cNvSpPr txBox="1"/>
            <p:nvPr/>
          </p:nvSpPr>
          <p:spPr>
            <a:xfrm>
              <a:off x="188481" y="-38100"/>
              <a:ext cx="4274726" cy="1757053"/>
            </a:xfrm>
            <a:prstGeom prst="rect">
              <a:avLst/>
            </a:prstGeom>
          </p:spPr>
          <p:txBody>
            <a:bodyPr lIns="33867" tIns="33867" rIns="33867" bIns="33867" rtlCol="0" anchor="ctr"/>
            <a:lstStyle/>
            <a:p>
              <a:pPr algn="ctr">
                <a:lnSpc>
                  <a:spcPts val="1775"/>
                </a:lnSpc>
                <a:spcBef>
                  <a:spcPct val="0"/>
                </a:spcBef>
              </a:pPr>
              <a:endParaRPr sz="1200"/>
            </a:p>
          </p:txBody>
        </p:sp>
      </p:grpSp>
      <p:sp>
        <p:nvSpPr>
          <p:cNvPr id="9" name="TextBox 11"/>
          <p:cNvSpPr txBox="1"/>
          <p:nvPr/>
        </p:nvSpPr>
        <p:spPr>
          <a:xfrm>
            <a:off x="981774" y="2105801"/>
            <a:ext cx="10032590" cy="3830320"/>
          </a:xfrm>
          <a:prstGeom prst="rect">
            <a:avLst/>
          </a:prstGeom>
        </p:spPr>
        <p:txBody>
          <a:bodyPr lIns="0" tIns="0" rIns="0" bIns="0" rtlCol="0" anchor="t">
            <a:noAutofit/>
          </a:bodyPr>
          <a:lstStyle/>
          <a:p>
            <a:pPr marL="342900" indent="-342900" algn="just">
              <a:lnSpc>
                <a:spcPct val="150000"/>
              </a:lnSpc>
              <a:buFont typeface="Wingdings" panose="05000000000000000000" pitchFamily="2" charset="2"/>
              <a:buChar char="§"/>
            </a:pPr>
            <a:endParaRPr lang="en-US" dirty="0">
              <a:solidFill>
                <a:srgbClr val="000000"/>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151783" y="2066278"/>
            <a:ext cx="10230406"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sym typeface="+mn-ea"/>
              </a:rPr>
              <a:t>The system introduces an automated NLP-based pipeline for classifying infectious disease reports.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sym typeface="+mn-ea"/>
              </a:rPr>
              <a:t>The process begins with text preprocessing — including tokenization, lemmatization, stop-word removal, and noise reduction — to clean the raw data.</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sym typeface="+mn-ea"/>
              </a:rPr>
              <a:t>ELECTRA is used for feature extraction, creating contextual embeddings that capture both syntactic and semantic relationships in the text.</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sym typeface="+mn-ea"/>
              </a:rPr>
              <a:t>An ensemble classifier processes the embeddings by combining multiple learning models for higher accuracy, robustness, and better handling of class imbalance.</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sym typeface="+mn-ea"/>
              </a:rPr>
              <a:t>The framework includes a </a:t>
            </a:r>
            <a:r>
              <a:rPr lang="en-US" dirty="0" err="1">
                <a:latin typeface="Times New Roman" panose="02020603050405020304" pitchFamily="18" charset="0"/>
                <a:cs typeface="Times New Roman" panose="02020603050405020304" pitchFamily="18" charset="0"/>
                <a:sym typeface="+mn-ea"/>
              </a:rPr>
              <a:t>Tkinter</a:t>
            </a:r>
            <a:r>
              <a:rPr lang="en-US" dirty="0">
                <a:latin typeface="Times New Roman" panose="02020603050405020304" pitchFamily="18" charset="0"/>
                <a:cs typeface="Times New Roman" panose="02020603050405020304" pitchFamily="18" charset="0"/>
                <a:sym typeface="+mn-ea"/>
              </a:rPr>
              <a:t>-based graphical user interface (GUI) for user interaction.</a:t>
            </a:r>
            <a:endParaRPr lang="en-US" dirty="0">
              <a:latin typeface="Times New Roman" panose="02020603050405020304" pitchFamily="18" charset="0"/>
              <a:cs typeface="Times New Roman" panose="02020603050405020304" pitchFamily="18" charset="0"/>
            </a:endParaRPr>
          </a:p>
        </p:txBody>
      </p:sp>
      <p:pic>
        <p:nvPicPr>
          <p:cNvPr id="10" name="Picture 9" descr="A logo with a flower&#10;&#10;Description automatically generated">
            <a:extLst>
              <a:ext uri="{FF2B5EF4-FFF2-40B4-BE49-F238E27FC236}">
                <a16:creationId xmlns:a16="http://schemas.microsoft.com/office/drawing/2014/main" id="{4D5F88E1-7216-DF78-1D6B-07C4B1AC3FE9}"/>
              </a:ext>
            </a:extLst>
          </p:cNvPr>
          <p:cNvPicPr>
            <a:picLocks noChangeAspect="1"/>
          </p:cNvPicPr>
          <p:nvPr/>
        </p:nvPicPr>
        <p:blipFill>
          <a:blip r:embed="rId2"/>
          <a:stretch>
            <a:fillRect/>
          </a:stretch>
        </p:blipFill>
        <p:spPr>
          <a:xfrm>
            <a:off x="10576245" y="322817"/>
            <a:ext cx="1381749" cy="11981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349885" y="463334"/>
            <a:ext cx="5339984" cy="1153486"/>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3" name="TextBox 13"/>
          <p:cNvSpPr txBox="1"/>
          <p:nvPr/>
        </p:nvSpPr>
        <p:spPr>
          <a:xfrm>
            <a:off x="3192175" y="502165"/>
            <a:ext cx="5807649" cy="959365"/>
          </a:xfrm>
          <a:prstGeom prst="rect">
            <a:avLst/>
          </a:prstGeom>
        </p:spPr>
        <p:txBody>
          <a:bodyPr wrap="square" lIns="0" tIns="0" rIns="0" bIns="0" rtlCol="0" anchor="t">
            <a:spAutoFit/>
          </a:bodyPr>
          <a:lstStyle/>
          <a:p>
            <a:pPr algn="ctr">
              <a:lnSpc>
                <a:spcPts val="3920"/>
              </a:lnSpc>
            </a:pPr>
            <a:r>
              <a:rPr lang="en-US" sz="2800" dirty="0">
                <a:solidFill>
                  <a:srgbClr val="000000"/>
                </a:solidFill>
                <a:latin typeface="Times New Roman Bold" panose="02030802070405020303"/>
              </a:rPr>
              <a:t>PROPOSED SYSTEM -ADVANTAGES</a:t>
            </a:r>
          </a:p>
        </p:txBody>
      </p:sp>
      <p:grpSp>
        <p:nvGrpSpPr>
          <p:cNvPr id="2" name="Group 2"/>
          <p:cNvGrpSpPr/>
          <p:nvPr/>
        </p:nvGrpSpPr>
        <p:grpSpPr>
          <a:xfrm>
            <a:off x="541175" y="1665954"/>
            <a:ext cx="10957405" cy="4531811"/>
            <a:chOff x="-60231" y="-38100"/>
            <a:chExt cx="4334957" cy="17570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60231" y="-38100"/>
              <a:ext cx="4334957" cy="1757053"/>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0" name="TextBox 9"/>
          <p:cNvSpPr txBox="1"/>
          <p:nvPr/>
        </p:nvSpPr>
        <p:spPr>
          <a:xfrm>
            <a:off x="1316735" y="2557668"/>
            <a:ext cx="9782633" cy="2748381"/>
          </a:xfrm>
          <a:prstGeom prst="rect">
            <a:avLst/>
          </a:prstGeom>
          <a:noFill/>
        </p:spPr>
        <p:txBody>
          <a:bodyPr wrap="square">
            <a:spAutoFit/>
          </a:bodyPr>
          <a:lstStyle/>
          <a:p>
            <a:pPr marL="285750" lvl="0" indent="-285750" algn="just">
              <a:lnSpc>
                <a:spcPct val="150000"/>
              </a:lnSpc>
              <a:spcAft>
                <a:spcPts val="800"/>
              </a:spcAft>
              <a:buSzPts val="1000"/>
              <a:buFont typeface="Wingdings" panose="05000000000000000000" pitchFamily="2" charset="2"/>
              <a:buChar char="§"/>
              <a:tabLst>
                <a:tab pos="457200" algn="l"/>
              </a:tabLst>
            </a:pPr>
            <a:r>
              <a:rPr lang="en-IN" sz="1800" kern="100" dirty="0">
                <a:effectLst/>
                <a:latin typeface="Times New Roman" panose="02020603050405020304" pitchFamily="18" charset="0"/>
                <a:ea typeface="DengXian" panose="02010600030101010101" pitchFamily="2" charset="-122"/>
                <a:cs typeface="Times New Roman" panose="02020603050405020304" pitchFamily="18" charset="0"/>
              </a:rPr>
              <a:t>Enhances early detection of infectious disease outbreaks by automating the classification of large-scale online reports.</a:t>
            </a:r>
            <a:endParaRPr lang="en-IN" sz="1800" kern="100" dirty="0">
              <a:effectLst/>
              <a:latin typeface="Aptos" panose="020B0004020202020204" pitchFamily="34" charset="0"/>
              <a:ea typeface="DengXian" panose="02010600030101010101" pitchFamily="2" charset="-122"/>
              <a:cs typeface="Times New Roman" panose="02020603050405020304" pitchFamily="18" charset="0"/>
            </a:endParaRPr>
          </a:p>
          <a:p>
            <a:pPr marL="285750" lvl="0" indent="-285750" algn="just">
              <a:lnSpc>
                <a:spcPct val="150000"/>
              </a:lnSpc>
              <a:spcAft>
                <a:spcPts val="800"/>
              </a:spcAft>
              <a:buSzPts val="1000"/>
              <a:buFont typeface="Wingdings" panose="05000000000000000000" pitchFamily="2" charset="2"/>
              <a:buChar char="§"/>
              <a:tabLst>
                <a:tab pos="457200" algn="l"/>
              </a:tabLst>
            </a:pPr>
            <a:r>
              <a:rPr lang="en-IN" sz="1800" kern="100" dirty="0">
                <a:effectLst/>
                <a:latin typeface="Times New Roman" panose="02020603050405020304" pitchFamily="18" charset="0"/>
                <a:ea typeface="DengXian" panose="02010600030101010101" pitchFamily="2" charset="-122"/>
                <a:cs typeface="Times New Roman" panose="02020603050405020304" pitchFamily="18" charset="0"/>
              </a:rPr>
              <a:t>Reduces reliance on manual screening, improving efficiency, consistency, and scalability in disease surveillance.</a:t>
            </a:r>
            <a:endParaRPr lang="en-IN" sz="1800" kern="100" dirty="0">
              <a:effectLst/>
              <a:latin typeface="Aptos" panose="020B0004020202020204" pitchFamily="34" charset="0"/>
              <a:ea typeface="DengXian" panose="02010600030101010101" pitchFamily="2" charset="-122"/>
              <a:cs typeface="Times New Roman" panose="02020603050405020304" pitchFamily="18" charset="0"/>
            </a:endParaRPr>
          </a:p>
          <a:p>
            <a:pPr marL="285750" lvl="0" indent="-285750" algn="just">
              <a:lnSpc>
                <a:spcPct val="150000"/>
              </a:lnSpc>
              <a:spcAft>
                <a:spcPts val="800"/>
              </a:spcAft>
              <a:buSzPts val="1000"/>
              <a:buFont typeface="Wingdings" panose="05000000000000000000" pitchFamily="2" charset="2"/>
              <a:buChar char="§"/>
              <a:tabLst>
                <a:tab pos="457200" algn="l"/>
              </a:tabLst>
            </a:pPr>
            <a:r>
              <a:rPr lang="en-IN" sz="1800" kern="100" dirty="0">
                <a:effectLst/>
                <a:latin typeface="Times New Roman" panose="02020603050405020304" pitchFamily="18" charset="0"/>
                <a:ea typeface="DengXian" panose="02010600030101010101" pitchFamily="2" charset="-122"/>
                <a:cs typeface="Times New Roman" panose="02020603050405020304" pitchFamily="18" charset="0"/>
              </a:rPr>
              <a:t>Supports public health authorities with timely insights, enabling proactive interventions and reducing the economic and health impact of epidemics.</a:t>
            </a:r>
            <a:endParaRPr lang="en-IN" sz="1800" kern="100" dirty="0">
              <a:effectLst/>
              <a:latin typeface="Aptos" panose="020B0004020202020204" pitchFamily="34" charset="0"/>
              <a:ea typeface="DengXian" panose="02010600030101010101" pitchFamily="2" charset="-122"/>
              <a:cs typeface="Times New Roman" panose="02020603050405020304" pitchFamily="18" charset="0"/>
            </a:endParaRPr>
          </a:p>
        </p:txBody>
      </p:sp>
      <p:pic>
        <p:nvPicPr>
          <p:cNvPr id="8" name="Picture 7" descr="A logo with a flower&#10;&#10;Description automatically generated">
            <a:extLst>
              <a:ext uri="{FF2B5EF4-FFF2-40B4-BE49-F238E27FC236}">
                <a16:creationId xmlns:a16="http://schemas.microsoft.com/office/drawing/2014/main" id="{26687846-54CA-94B8-F2D7-4E58668AA9CC}"/>
              </a:ext>
            </a:extLst>
          </p:cNvPr>
          <p:cNvPicPr>
            <a:picLocks noChangeAspect="1"/>
          </p:cNvPicPr>
          <p:nvPr/>
        </p:nvPicPr>
        <p:blipFill>
          <a:blip r:embed="rId2"/>
          <a:stretch>
            <a:fillRect/>
          </a:stretch>
        </p:blipFill>
        <p:spPr>
          <a:xfrm>
            <a:off x="10455540" y="295762"/>
            <a:ext cx="1441492" cy="12499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9517" y="4355463"/>
            <a:ext cx="1299583" cy="1299583"/>
          </a:xfrm>
          <a:custGeom>
            <a:avLst/>
            <a:gdLst/>
            <a:ahLst/>
            <a:cxnLst/>
            <a:rect l="l" t="t" r="r" b="b"/>
            <a:pathLst>
              <a:path w="1949375" h="1949375">
                <a:moveTo>
                  <a:pt x="0" y="0"/>
                </a:moveTo>
                <a:lnTo>
                  <a:pt x="1949375" y="0"/>
                </a:lnTo>
                <a:lnTo>
                  <a:pt x="1949375" y="1949375"/>
                </a:lnTo>
                <a:lnTo>
                  <a:pt x="0" y="19493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3426008" y="458204"/>
            <a:ext cx="5339984" cy="1153486"/>
            <a:chOff x="0" y="0"/>
            <a:chExt cx="2109623" cy="455698"/>
          </a:xfrm>
          <a:solidFill>
            <a:schemeClr val="tx2">
              <a:lumMod val="20000"/>
              <a:lumOff val="80000"/>
            </a:schemeClr>
          </a:solidFill>
        </p:grpSpPr>
        <p:sp>
          <p:nvSpPr>
            <p:cNvPr id="7" name="Freeform 7"/>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sp>
        <p:sp>
          <p:nvSpPr>
            <p:cNvPr id="8" name="TextBox 8"/>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4" name="TextBox 14"/>
          <p:cNvSpPr txBox="1"/>
          <p:nvPr/>
        </p:nvSpPr>
        <p:spPr>
          <a:xfrm>
            <a:off x="2687898" y="452467"/>
            <a:ext cx="7171804" cy="1078230"/>
          </a:xfrm>
          <a:prstGeom prst="rect">
            <a:avLst/>
          </a:prstGeom>
        </p:spPr>
        <p:txBody>
          <a:bodyPr lIns="0" tIns="0" rIns="0" bIns="0" rtlCol="0" anchor="t">
            <a:spAutoFit/>
          </a:bodyPr>
          <a:lstStyle/>
          <a:p>
            <a:pPr algn="ctr">
              <a:lnSpc>
                <a:spcPts val="4205"/>
              </a:lnSpc>
            </a:pPr>
            <a:r>
              <a:rPr lang="en-US" sz="2800" dirty="0">
                <a:solidFill>
                  <a:srgbClr val="000000"/>
                </a:solidFill>
                <a:latin typeface="Times New Roman Bold" panose="02030802070405020303"/>
              </a:rPr>
              <a:t>SOFTWARE &amp; HARDWARE REQUIREMENTS</a:t>
            </a:r>
          </a:p>
        </p:txBody>
      </p:sp>
      <p:grpSp>
        <p:nvGrpSpPr>
          <p:cNvPr id="3" name="Group 2"/>
          <p:cNvGrpSpPr/>
          <p:nvPr/>
        </p:nvGrpSpPr>
        <p:grpSpPr>
          <a:xfrm>
            <a:off x="1028700" y="1893012"/>
            <a:ext cx="10820400" cy="4351101"/>
            <a:chOff x="0" y="0"/>
            <a:chExt cx="4274726" cy="1718953"/>
          </a:xfrm>
          <a:solidFill>
            <a:schemeClr val="bg1"/>
          </a:solidFill>
        </p:grpSpPr>
        <p:sp>
          <p:nvSpPr>
            <p:cNvPr id="4"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sp>
        <p:sp>
          <p:nvSpPr>
            <p:cNvPr id="5"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9" name="TextBox 12"/>
          <p:cNvSpPr txBox="1"/>
          <p:nvPr/>
        </p:nvSpPr>
        <p:spPr>
          <a:xfrm>
            <a:off x="1259467" y="2414197"/>
            <a:ext cx="4785360" cy="2234586"/>
          </a:xfrm>
          <a:prstGeom prst="rect">
            <a:avLst/>
          </a:prstGeom>
        </p:spPr>
        <p:txBody>
          <a:bodyPr wrap="square" lIns="0" tIns="0" rIns="0" bIns="0" rtlCol="0" anchor="t">
            <a:spAutoFit/>
          </a:bodyPr>
          <a:lstStyle/>
          <a:p>
            <a:pPr marL="342900" indent="-342900" algn="just">
              <a:buFont typeface="Wingdings" panose="05000000000000000000" pitchFamily="2" charset="2"/>
              <a:buChar char="§"/>
            </a:pPr>
            <a:r>
              <a:rPr lang="en-US" sz="2000" b="1" dirty="0">
                <a:solidFill>
                  <a:srgbClr val="000000"/>
                </a:solidFill>
                <a:latin typeface="Times New Roman Bold" panose="02020803070505020304" pitchFamily="18" charset="0"/>
                <a:cs typeface="Times New Roman Bold" panose="02020803070505020304" pitchFamily="18" charset="0"/>
              </a:rPr>
              <a:t>SOFTWARE REQUIREMENTS:</a:t>
            </a:r>
          </a:p>
          <a:p>
            <a:pPr marL="342900" indent="-342900" algn="just">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3.12.0</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Operating system: Windows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Frontend: </a:t>
            </a:r>
            <a:r>
              <a:rPr lang="en-IN" dirty="0" err="1">
                <a:latin typeface="Times New Roman" panose="02020603050405020304" pitchFamily="18" charset="0"/>
                <a:cs typeface="Times New Roman" panose="02020603050405020304" pitchFamily="18" charset="0"/>
              </a:rPr>
              <a:t>TKinter</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MySQL</a:t>
            </a:r>
          </a:p>
        </p:txBody>
      </p:sp>
      <p:sp>
        <p:nvSpPr>
          <p:cNvPr id="10" name="TextBox 15"/>
          <p:cNvSpPr txBox="1"/>
          <p:nvPr/>
        </p:nvSpPr>
        <p:spPr>
          <a:xfrm>
            <a:off x="6625759" y="2438947"/>
            <a:ext cx="4239293" cy="2441575"/>
          </a:xfrm>
          <a:prstGeom prst="rect">
            <a:avLst/>
          </a:prstGeom>
        </p:spPr>
        <p:txBody>
          <a:bodyPr lIns="0" tIns="0" rIns="0" bIns="0" rtlCol="0" anchor="t">
            <a:spAutoFit/>
          </a:bodyPr>
          <a:lstStyle/>
          <a:p>
            <a:pPr marL="342900" indent="-342900" algn="just">
              <a:lnSpc>
                <a:spcPts val="2425"/>
              </a:lnSpc>
              <a:buFont typeface="Wingdings" panose="05000000000000000000" pitchFamily="2" charset="2"/>
              <a:buChar char="§"/>
            </a:pPr>
            <a:r>
              <a:rPr lang="en-US" sz="2000" b="1" dirty="0">
                <a:solidFill>
                  <a:srgbClr val="000000"/>
                </a:solidFill>
                <a:latin typeface="Times New Roman Bold" panose="02020803070505020304" pitchFamily="18" charset="0"/>
                <a:cs typeface="Times New Roman Bold" panose="02020803070505020304" pitchFamily="18" charset="0"/>
              </a:rPr>
              <a:t>HARDWARE REQUIREMENTS:</a:t>
            </a:r>
          </a:p>
          <a:p>
            <a:pPr marL="342900" indent="-342900" algn="just">
              <a:lnSpc>
                <a:spcPts val="2045"/>
              </a:lnSpc>
              <a:buFont typeface="Wingdings" panose="05000000000000000000" pitchFamily="2" charset="2"/>
              <a:buChar char="§"/>
            </a:pPr>
            <a:endParaRPr sz="2000" b="1" dirty="0">
              <a:latin typeface="Times New Roman Bold" panose="02020803070505020304" pitchFamily="18" charset="0"/>
              <a:cs typeface="Times New Roman Bold" panose="02020803070505020304" pitchFamily="18" charset="0"/>
            </a:endParaRP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Intel i5</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Memory: 1 TB (storage)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RAM: 8 GB</a:t>
            </a:r>
          </a:p>
          <a:p>
            <a:pPr marL="342900" indent="-342900" algn="just">
              <a:lnSpc>
                <a:spcPts val="2425"/>
              </a:lnSpc>
              <a:buFont typeface="Wingdings" panose="05000000000000000000" pitchFamily="2" charset="2"/>
              <a:buChar char="§"/>
            </a:pPr>
            <a:endParaRPr sz="2000" dirty="0"/>
          </a:p>
          <a:p>
            <a:pPr algn="just">
              <a:lnSpc>
                <a:spcPts val="2425"/>
              </a:lnSpc>
            </a:pPr>
            <a:endParaRPr sz="2000" dirty="0"/>
          </a:p>
        </p:txBody>
      </p:sp>
      <p:pic>
        <p:nvPicPr>
          <p:cNvPr id="11" name="Picture 10" descr="A logo with a flower&#10;&#10;Description automatically generated">
            <a:extLst>
              <a:ext uri="{FF2B5EF4-FFF2-40B4-BE49-F238E27FC236}">
                <a16:creationId xmlns:a16="http://schemas.microsoft.com/office/drawing/2014/main" id="{AF510D69-38B1-F5C9-0CA8-29A4E7EFA123}"/>
              </a:ext>
            </a:extLst>
          </p:cNvPr>
          <p:cNvPicPr>
            <a:picLocks noChangeAspect="1"/>
          </p:cNvPicPr>
          <p:nvPr/>
        </p:nvPicPr>
        <p:blipFill>
          <a:blip r:embed="rId5"/>
          <a:stretch>
            <a:fillRect/>
          </a:stretch>
        </p:blipFill>
        <p:spPr>
          <a:xfrm>
            <a:off x="10549517" y="327203"/>
            <a:ext cx="1330271" cy="11534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1253450"/>
            <a:ext cx="10820400" cy="4351101"/>
            <a:chOff x="0" y="0"/>
            <a:chExt cx="4274726" cy="17189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grpSp>
        <p:nvGrpSpPr>
          <p:cNvPr id="5" name="Group 5"/>
          <p:cNvGrpSpPr/>
          <p:nvPr/>
        </p:nvGrpSpPr>
        <p:grpSpPr>
          <a:xfrm>
            <a:off x="3426006" y="724676"/>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6" y="638114"/>
            <a:ext cx="6133705" cy="790575"/>
          </a:xfrm>
          <a:prstGeom prst="rect">
            <a:avLst/>
          </a:prstGeom>
        </p:spPr>
        <p:txBody>
          <a:bodyPr lIns="0" tIns="0" rIns="0" bIns="0" rtlCol="0" anchor="t">
            <a:spAutoFit/>
          </a:bodyPr>
          <a:lstStyle/>
          <a:p>
            <a:pPr algn="ctr">
              <a:lnSpc>
                <a:spcPts val="6165"/>
              </a:lnSpc>
            </a:pPr>
            <a:r>
              <a:rPr lang="en-IN" altLang="en-US" sz="2800" dirty="0">
                <a:solidFill>
                  <a:srgbClr val="000000"/>
                </a:solidFill>
                <a:latin typeface="Times New Roman Bold" panose="02030802070405020303"/>
              </a:rPr>
              <a:t>NOVELTY OF THE PROJECT</a:t>
            </a:r>
          </a:p>
        </p:txBody>
      </p:sp>
      <p:sp>
        <p:nvSpPr>
          <p:cNvPr id="10" name="Rectangle 2">
            <a:extLst>
              <a:ext uri="{FF2B5EF4-FFF2-40B4-BE49-F238E27FC236}">
                <a16:creationId xmlns:a16="http://schemas.microsoft.com/office/drawing/2014/main" id="{78568E8D-DF28-BBE2-908D-E1F6D565A369}"/>
              </a:ext>
            </a:extLst>
          </p:cNvPr>
          <p:cNvSpPr>
            <a:spLocks noChangeArrowheads="1"/>
          </p:cNvSpPr>
          <p:nvPr/>
        </p:nvSpPr>
        <p:spPr bwMode="auto">
          <a:xfrm>
            <a:off x="1032387" y="2134447"/>
            <a:ext cx="9930581"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novelty of this project lies in its integration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ELECTRA transformer–based contextual feature extraction with ensemble machine learning techniques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automated infectious disease classification from unstructured medical text. Unlike traditional methods that rely on shallow features such as TF-IDF or manual rules, this system captures deep semantic and syntactic information using ELECTRA embeddings and enhances classification robustness through ensemble models like AdaBoost, Extra Trees,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TaoTree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Random Forest. Additionally, the use of SMOTE-based data balancing on transformer features addresses real-world class imbalance in medical datasets. The project delivers a fully automated, scalable, and deployment-ready pipeline using Flask, making it suitable for practical healthcare surveillance and clinical decision-support applications.</a:t>
            </a:r>
          </a:p>
        </p:txBody>
      </p:sp>
      <p:pic>
        <p:nvPicPr>
          <p:cNvPr id="8" name="Picture 7" descr="A logo with a flower&#10;&#10;Description automatically generated">
            <a:extLst>
              <a:ext uri="{FF2B5EF4-FFF2-40B4-BE49-F238E27FC236}">
                <a16:creationId xmlns:a16="http://schemas.microsoft.com/office/drawing/2014/main" id="{6AE2D5B3-D736-B6F5-3EA4-7B032D2704DC}"/>
              </a:ext>
            </a:extLst>
          </p:cNvPr>
          <p:cNvPicPr>
            <a:picLocks noChangeAspect="1"/>
          </p:cNvPicPr>
          <p:nvPr/>
        </p:nvPicPr>
        <p:blipFill>
          <a:blip r:embed="rId2"/>
          <a:stretch>
            <a:fillRect/>
          </a:stretch>
        </p:blipFill>
        <p:spPr>
          <a:xfrm>
            <a:off x="10482624" y="281729"/>
            <a:ext cx="1420433" cy="12316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0" y="1253450"/>
            <a:ext cx="10820400" cy="4351101"/>
            <a:chOff x="0" y="0"/>
            <a:chExt cx="4274726" cy="17189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6" y="638114"/>
            <a:ext cx="6133705" cy="1581150"/>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SYSTEM ARCHITECTURE</a:t>
            </a:r>
          </a:p>
          <a:p>
            <a:pPr algn="ctr">
              <a:lnSpc>
                <a:spcPts val="6165"/>
              </a:lnSpc>
            </a:pPr>
            <a:endParaRPr lang="en-US" sz="2800" dirty="0">
              <a:solidFill>
                <a:srgbClr val="000000"/>
              </a:solidFill>
              <a:latin typeface="Times New Roman Bold" panose="02030802070405020303"/>
            </a:endParaRPr>
          </a:p>
        </p:txBody>
      </p:sp>
      <p:pic>
        <p:nvPicPr>
          <p:cNvPr id="9" name="Picture 8">
            <a:extLst>
              <a:ext uri="{FF2B5EF4-FFF2-40B4-BE49-F238E27FC236}">
                <a16:creationId xmlns:a16="http://schemas.microsoft.com/office/drawing/2014/main" id="{4FFCE767-BE06-DB0D-98E0-BB9CF628EEC0}"/>
              </a:ext>
            </a:extLst>
          </p:cNvPr>
          <p:cNvPicPr>
            <a:picLocks noChangeAspect="1"/>
          </p:cNvPicPr>
          <p:nvPr/>
        </p:nvPicPr>
        <p:blipFill>
          <a:blip r:embed="rId2" cstate="print"/>
          <a:srcRect t="6128"/>
          <a:stretch>
            <a:fillRect/>
          </a:stretch>
        </p:blipFill>
        <p:spPr bwMode="auto">
          <a:xfrm>
            <a:off x="2146003" y="1675904"/>
            <a:ext cx="8037645" cy="5025309"/>
          </a:xfrm>
          <a:prstGeom prst="rect">
            <a:avLst/>
          </a:prstGeom>
          <a:noFill/>
          <a:ln w="9525">
            <a:noFill/>
            <a:miter lim="800000"/>
            <a:headEnd/>
            <a:tailEnd/>
          </a:ln>
        </p:spPr>
      </p:pic>
      <p:pic>
        <p:nvPicPr>
          <p:cNvPr id="8" name="Picture 7" descr="A logo with a flower&#10;&#10;Description automatically generated">
            <a:extLst>
              <a:ext uri="{FF2B5EF4-FFF2-40B4-BE49-F238E27FC236}">
                <a16:creationId xmlns:a16="http://schemas.microsoft.com/office/drawing/2014/main" id="{EEB73562-1563-8B04-81FD-B61107FC74F6}"/>
              </a:ext>
            </a:extLst>
          </p:cNvPr>
          <p:cNvPicPr>
            <a:picLocks noChangeAspect="1"/>
          </p:cNvPicPr>
          <p:nvPr/>
        </p:nvPicPr>
        <p:blipFill>
          <a:blip r:embed="rId3"/>
          <a:stretch>
            <a:fillRect/>
          </a:stretch>
        </p:blipFill>
        <p:spPr>
          <a:xfrm>
            <a:off x="10513873" y="361212"/>
            <a:ext cx="1516183" cy="13146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3" y="632662"/>
            <a:ext cx="6133705" cy="1581150"/>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MODULE-1</a:t>
            </a:r>
            <a:endParaRPr lang="en-US" sz="3200" dirty="0">
              <a:solidFill>
                <a:srgbClr val="000000"/>
              </a:solidFill>
              <a:latin typeface="Times New Roman Bold" panose="02030802070405020303"/>
            </a:endParaRPr>
          </a:p>
          <a:p>
            <a:pPr algn="ctr">
              <a:lnSpc>
                <a:spcPts val="6165"/>
              </a:lnSpc>
            </a:pPr>
            <a:endParaRPr lang="en-US" sz="4405" dirty="0">
              <a:solidFill>
                <a:srgbClr val="000000"/>
              </a:solidFill>
              <a:latin typeface="Times New Roman Bold" panose="02030802070405020303"/>
            </a:endParaRPr>
          </a:p>
        </p:txBody>
      </p:sp>
      <p:sp>
        <p:nvSpPr>
          <p:cNvPr id="10" name="TextBox 9"/>
          <p:cNvSpPr txBox="1"/>
          <p:nvPr/>
        </p:nvSpPr>
        <p:spPr>
          <a:xfrm>
            <a:off x="1820831" y="2473628"/>
            <a:ext cx="8550328" cy="4751557"/>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NLP Preprocessing</a:t>
            </a:r>
          </a:p>
          <a:p>
            <a:pPr algn="just">
              <a:lnSpc>
                <a:spcPct val="150000"/>
              </a:lnSpc>
              <a:buNone/>
            </a:pPr>
            <a:r>
              <a:rPr lang="en-US" dirty="0">
                <a:latin typeface="Times New Roman" panose="02020603050405020304" pitchFamily="18" charset="0"/>
                <a:cs typeface="Times New Roman" panose="02020603050405020304" pitchFamily="18" charset="0"/>
              </a:rPr>
              <a:t>This module handles the cleaning and preparation of raw text data from online disease reports. It performs tokenization, lemmatization, stop-word removal, and noise reduction to ensure that only meaningful textual information is retained. These preprocessing steps standardize the text and improve the performance of downstream machine learning models.</a:t>
            </a:r>
          </a:p>
          <a:p>
            <a:pPr algn="just">
              <a:lnSpc>
                <a:spcPct val="150000"/>
              </a:lnSpc>
              <a:buNone/>
            </a:pP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lnSpc>
                <a:spcPct val="150000"/>
              </a:lnSpc>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2" name="Picture 1" descr="A logo with a flower&#10;&#10;Description automatically generated">
            <a:extLst>
              <a:ext uri="{FF2B5EF4-FFF2-40B4-BE49-F238E27FC236}">
                <a16:creationId xmlns:a16="http://schemas.microsoft.com/office/drawing/2014/main" id="{D6F28CD9-CB6E-472C-EE09-0EE80CBD8C03}"/>
              </a:ext>
            </a:extLst>
          </p:cNvPr>
          <p:cNvPicPr>
            <a:picLocks noChangeAspect="1"/>
          </p:cNvPicPr>
          <p:nvPr/>
        </p:nvPicPr>
        <p:blipFill>
          <a:blip r:embed="rId2"/>
          <a:stretch>
            <a:fillRect/>
          </a:stretch>
        </p:blipFill>
        <p:spPr>
          <a:xfrm>
            <a:off x="10612195" y="423944"/>
            <a:ext cx="1363495" cy="11822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3" y="632662"/>
            <a:ext cx="6133705" cy="1581150"/>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MODULE-2</a:t>
            </a:r>
          </a:p>
          <a:p>
            <a:pPr algn="ctr">
              <a:lnSpc>
                <a:spcPts val="6165"/>
              </a:lnSpc>
            </a:pPr>
            <a:endParaRPr lang="en-US" sz="2800" dirty="0">
              <a:solidFill>
                <a:srgbClr val="000000"/>
              </a:solidFill>
              <a:latin typeface="Times New Roman Bold" panose="02030802070405020303"/>
            </a:endParaRPr>
          </a:p>
        </p:txBody>
      </p:sp>
      <p:sp>
        <p:nvSpPr>
          <p:cNvPr id="10" name="TextBox 9"/>
          <p:cNvSpPr txBox="1"/>
          <p:nvPr/>
        </p:nvSpPr>
        <p:spPr>
          <a:xfrm>
            <a:off x="1820831" y="2473628"/>
            <a:ext cx="8550328" cy="2258567"/>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SMOTE Data Balancing</a:t>
            </a:r>
          </a:p>
          <a:p>
            <a:pPr algn="just">
              <a:lnSpc>
                <a:spcPct val="150000"/>
              </a:lnSpc>
              <a:buNone/>
            </a:pPr>
            <a:r>
              <a:rPr lang="en-US" dirty="0">
                <a:latin typeface="Times New Roman" panose="02020603050405020304" pitchFamily="18" charset="0"/>
                <a:cs typeface="Times New Roman" panose="02020603050405020304" pitchFamily="18" charset="0"/>
              </a:rPr>
              <a:t>The Synthetic Minority Oversampling Technique (SMOTE) module addresses the problem of class imbalance in the dataset. It generates synthetic samples for underrepresented disease classes, ensuring balanced data distribution. This helps improve the model’s classification accuracy and prevents bias toward majority classes.</a:t>
            </a:r>
          </a:p>
        </p:txBody>
      </p:sp>
      <p:pic>
        <p:nvPicPr>
          <p:cNvPr id="2" name="Picture 1" descr="A logo with a flower&#10;&#10;Description automatically generated">
            <a:extLst>
              <a:ext uri="{FF2B5EF4-FFF2-40B4-BE49-F238E27FC236}">
                <a16:creationId xmlns:a16="http://schemas.microsoft.com/office/drawing/2014/main" id="{CE46547A-A5F8-D973-242E-D21AAE3FC5AF}"/>
              </a:ext>
            </a:extLst>
          </p:cNvPr>
          <p:cNvPicPr>
            <a:picLocks noChangeAspect="1"/>
          </p:cNvPicPr>
          <p:nvPr/>
        </p:nvPicPr>
        <p:blipFill>
          <a:blip r:embed="rId2"/>
          <a:stretch>
            <a:fillRect/>
          </a:stretch>
        </p:blipFill>
        <p:spPr>
          <a:xfrm>
            <a:off x="10572866" y="283313"/>
            <a:ext cx="1540476" cy="13357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3" y="632662"/>
            <a:ext cx="6133705" cy="1581150"/>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MODULE-3</a:t>
            </a:r>
          </a:p>
          <a:p>
            <a:pPr algn="ctr">
              <a:lnSpc>
                <a:spcPts val="6165"/>
              </a:lnSpc>
            </a:pPr>
            <a:endParaRPr lang="en-US" sz="2800" dirty="0">
              <a:solidFill>
                <a:srgbClr val="000000"/>
              </a:solidFill>
              <a:latin typeface="Times New Roman Bold" panose="02030802070405020303"/>
            </a:endParaRPr>
          </a:p>
        </p:txBody>
      </p:sp>
      <p:sp>
        <p:nvSpPr>
          <p:cNvPr id="10" name="TextBox 9"/>
          <p:cNvSpPr txBox="1"/>
          <p:nvPr/>
        </p:nvSpPr>
        <p:spPr>
          <a:xfrm>
            <a:off x="1820831" y="2473628"/>
            <a:ext cx="8550328" cy="2674065"/>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ELECTRA Feature Extraction</a:t>
            </a:r>
          </a:p>
          <a:p>
            <a:pPr algn="just">
              <a:lnSpc>
                <a:spcPct val="150000"/>
              </a:lnSpc>
              <a:buNone/>
            </a:pPr>
            <a:r>
              <a:rPr lang="en-US" dirty="0">
                <a:latin typeface="Times New Roman" panose="02020603050405020304" pitchFamily="18" charset="0"/>
                <a:cs typeface="Times New Roman" panose="02020603050405020304" pitchFamily="18" charset="0"/>
              </a:rPr>
              <a:t>This module uses the ELECTRA model, an advanced transformer-based encoder, to generate contextual embeddings from preprocessed text. ELECTRA captures both syntactic and semantic nuances, providing richer and more accurate text representations than traditional embeddings. These high-quality feature vectors form the input for the ensemble classifier.</a:t>
            </a:r>
          </a:p>
        </p:txBody>
      </p:sp>
      <p:pic>
        <p:nvPicPr>
          <p:cNvPr id="2" name="Picture 1" descr="A logo with a flower&#10;&#10;Description automatically generated">
            <a:extLst>
              <a:ext uri="{FF2B5EF4-FFF2-40B4-BE49-F238E27FC236}">
                <a16:creationId xmlns:a16="http://schemas.microsoft.com/office/drawing/2014/main" id="{E76BF352-DA69-0D29-FEF7-636995F8EC94}"/>
              </a:ext>
            </a:extLst>
          </p:cNvPr>
          <p:cNvPicPr>
            <a:picLocks noChangeAspect="1"/>
          </p:cNvPicPr>
          <p:nvPr/>
        </p:nvPicPr>
        <p:blipFill>
          <a:blip r:embed="rId2"/>
          <a:stretch>
            <a:fillRect/>
          </a:stretch>
        </p:blipFill>
        <p:spPr>
          <a:xfrm>
            <a:off x="10484376" y="287399"/>
            <a:ext cx="1520966" cy="13188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426004" y="707780"/>
            <a:ext cx="5339984" cy="898458"/>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2" name="TextBox 12"/>
          <p:cNvSpPr txBox="1"/>
          <p:nvPr/>
        </p:nvSpPr>
        <p:spPr>
          <a:xfrm>
            <a:off x="3029143" y="632662"/>
            <a:ext cx="6133705" cy="1581150"/>
          </a:xfrm>
          <a:prstGeom prst="rect">
            <a:avLst/>
          </a:prstGeom>
        </p:spPr>
        <p:txBody>
          <a:bodyPr lIns="0" tIns="0" rIns="0" bIns="0" rtlCol="0" anchor="t">
            <a:spAutoFit/>
          </a:bodyPr>
          <a:lstStyle/>
          <a:p>
            <a:pPr algn="ctr">
              <a:lnSpc>
                <a:spcPts val="6165"/>
              </a:lnSpc>
            </a:pPr>
            <a:r>
              <a:rPr lang="en-US" sz="2800" dirty="0">
                <a:solidFill>
                  <a:srgbClr val="000000"/>
                </a:solidFill>
                <a:latin typeface="Times New Roman Bold" panose="02030802070405020303"/>
              </a:rPr>
              <a:t>MODULE-4</a:t>
            </a:r>
            <a:endParaRPr lang="en-US" sz="3200" dirty="0">
              <a:solidFill>
                <a:srgbClr val="000000"/>
              </a:solidFill>
              <a:latin typeface="Times New Roman Bold" panose="02030802070405020303"/>
            </a:endParaRPr>
          </a:p>
          <a:p>
            <a:pPr algn="ctr">
              <a:lnSpc>
                <a:spcPts val="6165"/>
              </a:lnSpc>
            </a:pPr>
            <a:endParaRPr lang="en-US" sz="4405" dirty="0">
              <a:solidFill>
                <a:srgbClr val="000000"/>
              </a:solidFill>
              <a:latin typeface="Times New Roman Bold" panose="02030802070405020303"/>
            </a:endParaRPr>
          </a:p>
        </p:txBody>
      </p:sp>
      <p:sp>
        <p:nvSpPr>
          <p:cNvPr id="10" name="TextBox 9"/>
          <p:cNvSpPr txBox="1"/>
          <p:nvPr/>
        </p:nvSpPr>
        <p:spPr>
          <a:xfrm>
            <a:off x="1820831" y="2473628"/>
            <a:ext cx="8550328" cy="2258567"/>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Ensemble Classifier</a:t>
            </a:r>
          </a:p>
          <a:p>
            <a:pPr algn="just">
              <a:lnSpc>
                <a:spcPct val="150000"/>
              </a:lnSpc>
              <a:buNone/>
            </a:pPr>
            <a:r>
              <a:rPr lang="en-US" dirty="0">
                <a:latin typeface="Times New Roman" panose="02020603050405020304" pitchFamily="18" charset="0"/>
                <a:cs typeface="Times New Roman" panose="02020603050405020304" pitchFamily="18" charset="0"/>
              </a:rPr>
              <a:t>The ensemble learning module combines multiple base classifiers such as Support Vector Machine (SVM) and Random Forest to improve prediction performance. A meta-learner integrates the outputs of these models to produce the final classification. This approach enhances accuracy, robustness, and generalization across diverse disease reports.</a:t>
            </a:r>
          </a:p>
        </p:txBody>
      </p:sp>
      <p:pic>
        <p:nvPicPr>
          <p:cNvPr id="2" name="Picture 1" descr="A logo with a flower&#10;&#10;Description automatically generated">
            <a:extLst>
              <a:ext uri="{FF2B5EF4-FFF2-40B4-BE49-F238E27FC236}">
                <a16:creationId xmlns:a16="http://schemas.microsoft.com/office/drawing/2014/main" id="{AB619B4B-AC5F-2A83-B7E7-BF78BABBD9BC}"/>
              </a:ext>
            </a:extLst>
          </p:cNvPr>
          <p:cNvPicPr>
            <a:picLocks noChangeAspect="1"/>
          </p:cNvPicPr>
          <p:nvPr/>
        </p:nvPicPr>
        <p:blipFill>
          <a:blip r:embed="rId2"/>
          <a:stretch>
            <a:fillRect/>
          </a:stretch>
        </p:blipFill>
        <p:spPr>
          <a:xfrm>
            <a:off x="10371159" y="283313"/>
            <a:ext cx="1525679" cy="13229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349885" y="463334"/>
            <a:ext cx="5339984" cy="1153486"/>
            <a:chOff x="0" y="0"/>
            <a:chExt cx="2109623" cy="455698"/>
          </a:xfrm>
          <a:solidFill>
            <a:schemeClr val="tx2">
              <a:lumMod val="20000"/>
              <a:lumOff val="80000"/>
            </a:schemeClr>
          </a:solidFill>
        </p:grpSpPr>
        <p:sp>
          <p:nvSpPr>
            <p:cNvPr id="6" name="Freeform 6"/>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3" name="TextBox 13"/>
          <p:cNvSpPr txBox="1"/>
          <p:nvPr/>
        </p:nvSpPr>
        <p:spPr>
          <a:xfrm>
            <a:off x="3192175" y="502165"/>
            <a:ext cx="5807649" cy="1508125"/>
          </a:xfrm>
          <a:prstGeom prst="rect">
            <a:avLst/>
          </a:prstGeom>
        </p:spPr>
        <p:txBody>
          <a:bodyPr wrap="square" lIns="0" tIns="0" rIns="0" bIns="0" rtlCol="0" anchor="t">
            <a:spAutoFit/>
          </a:bodyPr>
          <a:lstStyle/>
          <a:p>
            <a:pPr algn="ctr">
              <a:lnSpc>
                <a:spcPts val="3920"/>
              </a:lnSpc>
            </a:pPr>
            <a:r>
              <a:rPr lang="en-IN" sz="2800" dirty="0">
                <a:solidFill>
                  <a:srgbClr val="000000"/>
                </a:solidFill>
                <a:latin typeface="Times New Roman Bold" panose="02030802070405020303"/>
              </a:rPr>
              <a:t>UML DIAGRAMS-</a:t>
            </a:r>
          </a:p>
          <a:p>
            <a:pPr algn="ctr">
              <a:lnSpc>
                <a:spcPts val="3920"/>
              </a:lnSpc>
            </a:pPr>
            <a:r>
              <a:rPr lang="en-IN" sz="2800" dirty="0">
                <a:solidFill>
                  <a:srgbClr val="000000"/>
                </a:solidFill>
                <a:latin typeface="Times New Roman Bold" panose="02030802070405020303"/>
              </a:rPr>
              <a:t>1.CLASS DIAGRAM</a:t>
            </a:r>
          </a:p>
          <a:p>
            <a:pPr algn="ctr">
              <a:lnSpc>
                <a:spcPts val="3920"/>
              </a:lnSpc>
            </a:pPr>
            <a:endParaRPr lang="en-IN" sz="2800" dirty="0">
              <a:solidFill>
                <a:srgbClr val="000000"/>
              </a:solidFill>
              <a:latin typeface="Times New Roman Bold" panose="02030802070405020303"/>
            </a:endParaRPr>
          </a:p>
        </p:txBody>
      </p:sp>
      <p:grpSp>
        <p:nvGrpSpPr>
          <p:cNvPr id="2" name="Group 2"/>
          <p:cNvGrpSpPr/>
          <p:nvPr/>
        </p:nvGrpSpPr>
        <p:grpSpPr>
          <a:xfrm>
            <a:off x="541175" y="1665954"/>
            <a:ext cx="10957405" cy="4531811"/>
            <a:chOff x="-60231" y="-38100"/>
            <a:chExt cx="4334957" cy="1757053"/>
          </a:xfrm>
          <a:solidFill>
            <a:schemeClr val="bg1"/>
          </a:solidFill>
        </p:grpSpPr>
        <p:sp>
          <p:nvSpPr>
            <p:cNvPr id="3"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4" name="TextBox 4"/>
            <p:cNvSpPr txBox="1"/>
            <p:nvPr/>
          </p:nvSpPr>
          <p:spPr>
            <a:xfrm>
              <a:off x="-60231" y="-38100"/>
              <a:ext cx="4334957" cy="1757053"/>
            </a:xfrm>
            <a:prstGeom prst="rect">
              <a:avLst/>
            </a:prstGeom>
            <a:grpFill/>
          </p:spPr>
          <p:txBody>
            <a:bodyPr lIns="33867" tIns="33867" rIns="33867" bIns="33867" rtlCol="0" anchor="ctr"/>
            <a:lstStyle/>
            <a:p>
              <a:pPr algn="ctr">
                <a:lnSpc>
                  <a:spcPts val="1775"/>
                </a:lnSpc>
                <a:spcBef>
                  <a:spcPct val="0"/>
                </a:spcBef>
              </a:pPr>
              <a:endParaRPr sz="1200"/>
            </a:p>
          </p:txBody>
        </p:sp>
      </p:grpSp>
      <p:pic>
        <p:nvPicPr>
          <p:cNvPr id="103860142" name="Picture 17" descr="A diagram of a computer&#10;&#10;AI-generated content may be incorrect."/>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6244" y="1616820"/>
            <a:ext cx="2959509" cy="5241180"/>
          </a:xfrm>
          <a:prstGeom prst="rect">
            <a:avLst/>
          </a:prstGeom>
          <a:noFill/>
          <a:ln>
            <a:noFill/>
          </a:ln>
        </p:spPr>
      </p:pic>
      <p:pic>
        <p:nvPicPr>
          <p:cNvPr id="8" name="Picture 7" descr="A logo with a flower&#10;&#10;Description automatically generated">
            <a:extLst>
              <a:ext uri="{FF2B5EF4-FFF2-40B4-BE49-F238E27FC236}">
                <a16:creationId xmlns:a16="http://schemas.microsoft.com/office/drawing/2014/main" id="{9FDB6EEE-FDD3-581D-5B93-ADDFABB0872B}"/>
              </a:ext>
            </a:extLst>
          </p:cNvPr>
          <p:cNvPicPr>
            <a:picLocks noChangeAspect="1"/>
          </p:cNvPicPr>
          <p:nvPr/>
        </p:nvPicPr>
        <p:blipFill>
          <a:blip r:embed="rId4"/>
          <a:stretch>
            <a:fillRect/>
          </a:stretch>
        </p:blipFill>
        <p:spPr>
          <a:xfrm>
            <a:off x="10493806" y="323343"/>
            <a:ext cx="1491717" cy="129347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9517" y="4355463"/>
            <a:ext cx="1299583" cy="1299583"/>
          </a:xfrm>
          <a:custGeom>
            <a:avLst/>
            <a:gdLst/>
            <a:ahLst/>
            <a:cxnLst/>
            <a:rect l="l" t="t" r="r" b="b"/>
            <a:pathLst>
              <a:path w="1949375" h="1949375">
                <a:moveTo>
                  <a:pt x="0" y="0"/>
                </a:moveTo>
                <a:lnTo>
                  <a:pt x="1949375" y="0"/>
                </a:lnTo>
                <a:lnTo>
                  <a:pt x="1949375" y="1949375"/>
                </a:lnTo>
                <a:lnTo>
                  <a:pt x="0" y="1949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3582955" y="607714"/>
            <a:ext cx="4861250" cy="736114"/>
            <a:chOff x="0" y="0"/>
            <a:chExt cx="2109623" cy="455698"/>
          </a:xfrm>
          <a:solidFill>
            <a:schemeClr val="tx2">
              <a:lumMod val="20000"/>
              <a:lumOff val="80000"/>
            </a:schemeClr>
          </a:solidFill>
        </p:grpSpPr>
        <p:sp>
          <p:nvSpPr>
            <p:cNvPr id="7" name="Freeform 7"/>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8" name="TextBox 8"/>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4" name="TextBox 14"/>
          <p:cNvSpPr txBox="1"/>
          <p:nvPr/>
        </p:nvSpPr>
        <p:spPr>
          <a:xfrm>
            <a:off x="2428533" y="607985"/>
            <a:ext cx="7171804" cy="539115"/>
          </a:xfrm>
          <a:prstGeom prst="rect">
            <a:avLst/>
          </a:prstGeom>
        </p:spPr>
        <p:txBody>
          <a:bodyPr lIns="0" tIns="0" rIns="0" bIns="0" rtlCol="0" anchor="t">
            <a:spAutoFit/>
          </a:bodyPr>
          <a:lstStyle/>
          <a:p>
            <a:pPr algn="ctr">
              <a:lnSpc>
                <a:spcPts val="4205"/>
              </a:lnSpc>
            </a:pPr>
            <a:r>
              <a:rPr lang="en-IN" sz="2800" dirty="0">
                <a:solidFill>
                  <a:srgbClr val="000000"/>
                </a:solidFill>
                <a:latin typeface="Times New Roman Bold" panose="02030802070405020303"/>
              </a:rPr>
              <a:t>2.USECASE DIAGRAM</a:t>
            </a:r>
            <a:endParaRPr lang="en-US" sz="2800" dirty="0">
              <a:solidFill>
                <a:srgbClr val="000000"/>
              </a:solidFill>
              <a:latin typeface="Times New Roman Bold" panose="02030802070405020303"/>
            </a:endParaRPr>
          </a:p>
        </p:txBody>
      </p:sp>
      <p:grpSp>
        <p:nvGrpSpPr>
          <p:cNvPr id="3" name="Group 2"/>
          <p:cNvGrpSpPr/>
          <p:nvPr/>
        </p:nvGrpSpPr>
        <p:grpSpPr>
          <a:xfrm>
            <a:off x="1028700" y="1894028"/>
            <a:ext cx="10820400" cy="4351101"/>
            <a:chOff x="0" y="0"/>
            <a:chExt cx="4274726" cy="1718953"/>
          </a:xfrm>
          <a:solidFill>
            <a:schemeClr val="bg1"/>
          </a:solidFill>
        </p:grpSpPr>
        <p:sp>
          <p:nvSpPr>
            <p:cNvPr id="4"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5"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pic>
        <p:nvPicPr>
          <p:cNvPr id="857744974" name="Picture 19" descr="A diagram of a data scientist&#10;&#10;AI-generated content may be incorrect."/>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10869" y="1797587"/>
            <a:ext cx="5962627" cy="4544148"/>
          </a:xfrm>
          <a:prstGeom prst="rect">
            <a:avLst/>
          </a:prstGeom>
          <a:noFill/>
          <a:ln>
            <a:noFill/>
          </a:ln>
        </p:spPr>
      </p:pic>
      <p:pic>
        <p:nvPicPr>
          <p:cNvPr id="9" name="Picture 8" descr="A logo with a flower&#10;&#10;Description automatically generated">
            <a:extLst>
              <a:ext uri="{FF2B5EF4-FFF2-40B4-BE49-F238E27FC236}">
                <a16:creationId xmlns:a16="http://schemas.microsoft.com/office/drawing/2014/main" id="{CAB9D1FE-FE50-1045-193A-0B836B0FBE1F}"/>
              </a:ext>
            </a:extLst>
          </p:cNvPr>
          <p:cNvPicPr>
            <a:picLocks noChangeAspect="1"/>
          </p:cNvPicPr>
          <p:nvPr/>
        </p:nvPicPr>
        <p:blipFill>
          <a:blip r:embed="rId5"/>
          <a:stretch>
            <a:fillRect/>
          </a:stretch>
        </p:blipFill>
        <p:spPr>
          <a:xfrm>
            <a:off x="10549517" y="267986"/>
            <a:ext cx="1388939" cy="12043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9517" y="4355463"/>
            <a:ext cx="1299583" cy="1299583"/>
          </a:xfrm>
          <a:custGeom>
            <a:avLst/>
            <a:gdLst/>
            <a:ahLst/>
            <a:cxnLst/>
            <a:rect l="l" t="t" r="r" b="b"/>
            <a:pathLst>
              <a:path w="1949375" h="1949375">
                <a:moveTo>
                  <a:pt x="0" y="0"/>
                </a:moveTo>
                <a:lnTo>
                  <a:pt x="1949375" y="0"/>
                </a:lnTo>
                <a:lnTo>
                  <a:pt x="1949375" y="1949375"/>
                </a:lnTo>
                <a:lnTo>
                  <a:pt x="0" y="19493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3582955" y="607714"/>
            <a:ext cx="4861250" cy="736114"/>
            <a:chOff x="0" y="0"/>
            <a:chExt cx="2109623" cy="455698"/>
          </a:xfrm>
          <a:solidFill>
            <a:schemeClr val="tx2">
              <a:lumMod val="20000"/>
              <a:lumOff val="80000"/>
            </a:schemeClr>
          </a:solidFill>
        </p:grpSpPr>
        <p:sp>
          <p:nvSpPr>
            <p:cNvPr id="7" name="Freeform 7"/>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8" name="TextBox 8"/>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4" name="TextBox 14"/>
          <p:cNvSpPr txBox="1"/>
          <p:nvPr/>
        </p:nvSpPr>
        <p:spPr>
          <a:xfrm>
            <a:off x="2428533" y="607985"/>
            <a:ext cx="7171804" cy="488082"/>
          </a:xfrm>
          <a:prstGeom prst="rect">
            <a:avLst/>
          </a:prstGeom>
        </p:spPr>
        <p:txBody>
          <a:bodyPr lIns="0" tIns="0" rIns="0" bIns="0" rtlCol="0" anchor="t">
            <a:spAutoFit/>
          </a:bodyPr>
          <a:lstStyle/>
          <a:p>
            <a:pPr algn="ctr">
              <a:lnSpc>
                <a:spcPts val="4205"/>
              </a:lnSpc>
            </a:pPr>
            <a:r>
              <a:rPr lang="en-IN" sz="2800" dirty="0">
                <a:solidFill>
                  <a:srgbClr val="000000"/>
                </a:solidFill>
                <a:latin typeface="Times New Roman Bold" panose="02030802070405020303"/>
              </a:rPr>
              <a:t>3.SEQUENCE DIAGRAM</a:t>
            </a:r>
            <a:endParaRPr lang="en-US" sz="2800" dirty="0">
              <a:solidFill>
                <a:srgbClr val="000000"/>
              </a:solidFill>
              <a:latin typeface="Times New Roman Bold" panose="02030802070405020303"/>
            </a:endParaRPr>
          </a:p>
        </p:txBody>
      </p:sp>
      <p:grpSp>
        <p:nvGrpSpPr>
          <p:cNvPr id="3" name="Group 2"/>
          <p:cNvGrpSpPr/>
          <p:nvPr/>
        </p:nvGrpSpPr>
        <p:grpSpPr>
          <a:xfrm>
            <a:off x="1028700" y="1883868"/>
            <a:ext cx="10820400" cy="4351101"/>
            <a:chOff x="0" y="0"/>
            <a:chExt cx="4274726" cy="1718953"/>
          </a:xfrm>
          <a:solidFill>
            <a:schemeClr val="bg1"/>
          </a:solidFill>
        </p:grpSpPr>
        <p:sp>
          <p:nvSpPr>
            <p:cNvPr id="4"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5"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pic>
        <p:nvPicPr>
          <p:cNvPr id="9" name="Picture 8" descr="A logo with a flower&#10;&#10;Description automatically generated">
            <a:extLst>
              <a:ext uri="{FF2B5EF4-FFF2-40B4-BE49-F238E27FC236}">
                <a16:creationId xmlns:a16="http://schemas.microsoft.com/office/drawing/2014/main" id="{90FCFB7B-5496-3306-3EED-C3AE95F814E8}"/>
              </a:ext>
            </a:extLst>
          </p:cNvPr>
          <p:cNvPicPr>
            <a:picLocks noChangeAspect="1"/>
          </p:cNvPicPr>
          <p:nvPr/>
        </p:nvPicPr>
        <p:blipFill>
          <a:blip r:embed="rId4"/>
          <a:stretch>
            <a:fillRect/>
          </a:stretch>
        </p:blipFill>
        <p:spPr>
          <a:xfrm>
            <a:off x="10430664" y="286481"/>
            <a:ext cx="1525362" cy="1322650"/>
          </a:xfrm>
          <a:prstGeom prst="rect">
            <a:avLst/>
          </a:prstGeom>
        </p:spPr>
      </p:pic>
      <p:pic>
        <p:nvPicPr>
          <p:cNvPr id="10" name="Picture 9" descr="PlantUML Diagram">
            <a:extLst>
              <a:ext uri="{FF2B5EF4-FFF2-40B4-BE49-F238E27FC236}">
                <a16:creationId xmlns:a16="http://schemas.microsoft.com/office/drawing/2014/main" id="{F5234F22-1125-F169-E18C-8C457A9B7D6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27123" y="1440269"/>
            <a:ext cx="8259096" cy="44475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9517" y="4355463"/>
            <a:ext cx="1299583" cy="1299583"/>
          </a:xfrm>
          <a:custGeom>
            <a:avLst/>
            <a:gdLst/>
            <a:ahLst/>
            <a:cxnLst/>
            <a:rect l="l" t="t" r="r" b="b"/>
            <a:pathLst>
              <a:path w="1949375" h="1949375">
                <a:moveTo>
                  <a:pt x="0" y="0"/>
                </a:moveTo>
                <a:lnTo>
                  <a:pt x="1949375" y="0"/>
                </a:lnTo>
                <a:lnTo>
                  <a:pt x="1949375" y="1949375"/>
                </a:lnTo>
                <a:lnTo>
                  <a:pt x="0" y="19493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6" name="Group 6"/>
          <p:cNvGrpSpPr/>
          <p:nvPr/>
        </p:nvGrpSpPr>
        <p:grpSpPr>
          <a:xfrm>
            <a:off x="2872596" y="607714"/>
            <a:ext cx="6426679" cy="736114"/>
            <a:chOff x="0" y="0"/>
            <a:chExt cx="2109623" cy="455698"/>
          </a:xfrm>
          <a:solidFill>
            <a:schemeClr val="tx2">
              <a:lumMod val="20000"/>
              <a:lumOff val="80000"/>
            </a:schemeClr>
          </a:solidFill>
        </p:grpSpPr>
        <p:sp>
          <p:nvSpPr>
            <p:cNvPr id="7" name="Freeform 7"/>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8" name="TextBox 8"/>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endParaRPr sz="1200"/>
            </a:p>
          </p:txBody>
        </p:sp>
      </p:grpSp>
      <p:sp>
        <p:nvSpPr>
          <p:cNvPr id="14" name="TextBox 14"/>
          <p:cNvSpPr txBox="1"/>
          <p:nvPr/>
        </p:nvSpPr>
        <p:spPr>
          <a:xfrm>
            <a:off x="2428533" y="607985"/>
            <a:ext cx="7171804" cy="488082"/>
          </a:xfrm>
          <a:prstGeom prst="rect">
            <a:avLst/>
          </a:prstGeom>
        </p:spPr>
        <p:txBody>
          <a:bodyPr lIns="0" tIns="0" rIns="0" bIns="0" rtlCol="0" anchor="t">
            <a:spAutoFit/>
          </a:bodyPr>
          <a:lstStyle/>
          <a:p>
            <a:pPr algn="ctr">
              <a:lnSpc>
                <a:spcPts val="4205"/>
              </a:lnSpc>
            </a:pPr>
            <a:r>
              <a:rPr lang="en-IN" sz="2800" dirty="0">
                <a:solidFill>
                  <a:srgbClr val="000000"/>
                </a:solidFill>
                <a:latin typeface="Times New Roman Bold" panose="02030802070405020303"/>
              </a:rPr>
              <a:t>4.ACTIVITY DIAGRAM</a:t>
            </a:r>
            <a:endParaRPr lang="en-US" sz="2800" dirty="0">
              <a:solidFill>
                <a:srgbClr val="000000"/>
              </a:solidFill>
              <a:latin typeface="Times New Roman Bold" panose="02030802070405020303"/>
            </a:endParaRPr>
          </a:p>
        </p:txBody>
      </p:sp>
      <p:grpSp>
        <p:nvGrpSpPr>
          <p:cNvPr id="3" name="Group 2"/>
          <p:cNvGrpSpPr/>
          <p:nvPr/>
        </p:nvGrpSpPr>
        <p:grpSpPr>
          <a:xfrm>
            <a:off x="1028700" y="1883868"/>
            <a:ext cx="10820400" cy="4351101"/>
            <a:chOff x="0" y="0"/>
            <a:chExt cx="4274726" cy="1718953"/>
          </a:xfrm>
          <a:solidFill>
            <a:schemeClr val="bg1"/>
          </a:solidFill>
        </p:grpSpPr>
        <p:sp>
          <p:nvSpPr>
            <p:cNvPr id="4" name="Freeform 3"/>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grpFill/>
          </p:spPr>
          <p:txBody>
            <a:bodyPr/>
            <a:lstStyle/>
            <a:p>
              <a:endParaRPr lang="en-IN"/>
            </a:p>
          </p:txBody>
        </p:sp>
        <p:sp>
          <p:nvSpPr>
            <p:cNvPr id="5" name="TextBox 4"/>
            <p:cNvSpPr txBox="1"/>
            <p:nvPr/>
          </p:nvSpPr>
          <p:spPr>
            <a:xfrm>
              <a:off x="0" y="-38100"/>
              <a:ext cx="4274726" cy="1757053"/>
            </a:xfrm>
            <a:prstGeom prst="rect">
              <a:avLst/>
            </a:prstGeom>
            <a:grpFill/>
          </p:spPr>
          <p:txBody>
            <a:bodyPr lIns="33867" tIns="33867" rIns="33867" bIns="33867" rtlCol="0" anchor="ctr"/>
            <a:lstStyle/>
            <a:p>
              <a:pPr algn="ctr">
                <a:lnSpc>
                  <a:spcPts val="1775"/>
                </a:lnSpc>
                <a:spcBef>
                  <a:spcPct val="0"/>
                </a:spcBef>
              </a:pPr>
              <a:endParaRPr sz="1200"/>
            </a:p>
          </p:txBody>
        </p:sp>
      </p:grpSp>
      <p:pic>
        <p:nvPicPr>
          <p:cNvPr id="9" name="Picture 8" descr="A logo with a flower&#10;&#10;Description automatically generated">
            <a:extLst>
              <a:ext uri="{FF2B5EF4-FFF2-40B4-BE49-F238E27FC236}">
                <a16:creationId xmlns:a16="http://schemas.microsoft.com/office/drawing/2014/main" id="{28384660-6F61-F25A-5D6B-01F37542D24B}"/>
              </a:ext>
            </a:extLst>
          </p:cNvPr>
          <p:cNvPicPr>
            <a:picLocks noChangeAspect="1"/>
          </p:cNvPicPr>
          <p:nvPr/>
        </p:nvPicPr>
        <p:blipFill>
          <a:blip r:embed="rId5"/>
          <a:stretch>
            <a:fillRect/>
          </a:stretch>
        </p:blipFill>
        <p:spPr>
          <a:xfrm>
            <a:off x="10489559" y="215699"/>
            <a:ext cx="1419498" cy="1230855"/>
          </a:xfrm>
          <a:prstGeom prst="rect">
            <a:avLst/>
          </a:prstGeom>
        </p:spPr>
      </p:pic>
      <p:pic>
        <p:nvPicPr>
          <p:cNvPr id="10" name="Picture 9" descr="PlantUML Diagram">
            <a:extLst>
              <a:ext uri="{FF2B5EF4-FFF2-40B4-BE49-F238E27FC236}">
                <a16:creationId xmlns:a16="http://schemas.microsoft.com/office/drawing/2014/main" id="{E8ED7E01-6A24-C0AF-A1FE-60034BB4EBC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88542" y="1405373"/>
            <a:ext cx="3687097" cy="535922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1DB24-18A5-DEC9-052A-6CFFD8718A4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C78A2FE-2260-A0BD-F2AE-DFCA7308E4B2}"/>
              </a:ext>
            </a:extLst>
          </p:cNvPr>
          <p:cNvGrpSpPr/>
          <p:nvPr/>
        </p:nvGrpSpPr>
        <p:grpSpPr>
          <a:xfrm>
            <a:off x="3426004" y="707780"/>
            <a:ext cx="5339984" cy="898458"/>
            <a:chOff x="0" y="0"/>
            <a:chExt cx="2109623" cy="455698"/>
          </a:xfrm>
          <a:solidFill>
            <a:schemeClr val="tx2">
              <a:lumMod val="20000"/>
              <a:lumOff val="80000"/>
            </a:schemeClr>
          </a:solidFill>
        </p:grpSpPr>
        <p:sp>
          <p:nvSpPr>
            <p:cNvPr id="6" name="Freeform 6">
              <a:extLst>
                <a:ext uri="{FF2B5EF4-FFF2-40B4-BE49-F238E27FC236}">
                  <a16:creationId xmlns:a16="http://schemas.microsoft.com/office/drawing/2014/main" id="{877B01EA-F5B3-F18D-50E9-20EF9D66360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grpFill/>
            <a:ln w="38100" cap="sq">
              <a:solidFill>
                <a:srgbClr val="F1F2F2"/>
              </a:solidFill>
              <a:prstDash val="solid"/>
              <a:miter/>
            </a:ln>
          </p:spPr>
          <p:txBody>
            <a:bodyPr/>
            <a:lstStyle/>
            <a:p>
              <a:endParaRPr lang="en-IN"/>
            </a:p>
          </p:txBody>
        </p:sp>
        <p:sp>
          <p:nvSpPr>
            <p:cNvPr id="7" name="TextBox 7">
              <a:extLst>
                <a:ext uri="{FF2B5EF4-FFF2-40B4-BE49-F238E27FC236}">
                  <a16:creationId xmlns:a16="http://schemas.microsoft.com/office/drawing/2014/main" id="{08E89BA6-C05C-C525-B10B-FCA871952734}"/>
                </a:ext>
              </a:extLst>
            </p:cNvPr>
            <p:cNvSpPr txBox="1"/>
            <p:nvPr/>
          </p:nvSpPr>
          <p:spPr>
            <a:xfrm>
              <a:off x="0" y="-38100"/>
              <a:ext cx="2109623" cy="493798"/>
            </a:xfrm>
            <a:prstGeom prst="rect">
              <a:avLst/>
            </a:prstGeom>
            <a:grpFill/>
          </p:spPr>
          <p:txBody>
            <a:bodyPr lIns="33867" tIns="33867" rIns="33867" bIns="33867" rtlCol="0" anchor="ctr"/>
            <a:lstStyle/>
            <a:p>
              <a:pPr algn="ctr">
                <a:lnSpc>
                  <a:spcPts val="1775"/>
                </a:lnSpc>
                <a:spcBef>
                  <a:spcPct val="0"/>
                </a:spcBef>
              </a:pPr>
              <a:r>
                <a:rPr lang="en-IN" sz="2800" dirty="0">
                  <a:latin typeface="Times New Roman" panose="02020603050405020304" pitchFamily="18" charset="0"/>
                  <a:cs typeface="Times New Roman" panose="02020603050405020304" pitchFamily="18" charset="0"/>
                </a:rPr>
                <a:t>SOURCE CODE</a:t>
              </a:r>
              <a:endParaRPr sz="2800" dirty="0">
                <a:latin typeface="Times New Roman" panose="02020603050405020304" pitchFamily="18" charset="0"/>
                <a:cs typeface="Times New Roman" panose="02020603050405020304" pitchFamily="18" charset="0"/>
              </a:endParaRPr>
            </a:p>
          </p:txBody>
        </p:sp>
      </p:grpSp>
      <p:sp>
        <p:nvSpPr>
          <p:cNvPr id="12" name="TextBox 12">
            <a:extLst>
              <a:ext uri="{FF2B5EF4-FFF2-40B4-BE49-F238E27FC236}">
                <a16:creationId xmlns:a16="http://schemas.microsoft.com/office/drawing/2014/main" id="{695FE58D-F330-27DB-D41D-7ADC3F4B8788}"/>
              </a:ext>
            </a:extLst>
          </p:cNvPr>
          <p:cNvSpPr txBox="1"/>
          <p:nvPr/>
        </p:nvSpPr>
        <p:spPr>
          <a:xfrm>
            <a:off x="3029143" y="632662"/>
            <a:ext cx="6133705" cy="1581150"/>
          </a:xfrm>
          <a:prstGeom prst="rect">
            <a:avLst/>
          </a:prstGeom>
        </p:spPr>
        <p:txBody>
          <a:bodyPr lIns="0" tIns="0" rIns="0" bIns="0" rtlCol="0" anchor="t">
            <a:spAutoFit/>
          </a:bodyPr>
          <a:lstStyle/>
          <a:p>
            <a:pPr algn="ctr">
              <a:lnSpc>
                <a:spcPts val="6165"/>
              </a:lnSpc>
            </a:pPr>
            <a:endParaRPr lang="en-US" sz="3200" dirty="0">
              <a:solidFill>
                <a:srgbClr val="000000"/>
              </a:solidFill>
              <a:latin typeface="Times New Roman Bold" panose="02030802070405020303"/>
            </a:endParaRPr>
          </a:p>
          <a:p>
            <a:pPr algn="ctr">
              <a:lnSpc>
                <a:spcPts val="6165"/>
              </a:lnSpc>
            </a:pPr>
            <a:endParaRPr lang="en-US" sz="4405" dirty="0">
              <a:solidFill>
                <a:srgbClr val="000000"/>
              </a:solidFill>
              <a:latin typeface="Times New Roman Bold" panose="02030802070405020303"/>
            </a:endParaRPr>
          </a:p>
        </p:txBody>
      </p:sp>
      <p:sp>
        <p:nvSpPr>
          <p:cNvPr id="10" name="TextBox 9">
            <a:extLst>
              <a:ext uri="{FF2B5EF4-FFF2-40B4-BE49-F238E27FC236}">
                <a16:creationId xmlns:a16="http://schemas.microsoft.com/office/drawing/2014/main" id="{8306449C-440A-FBDC-52D8-85541F831CB1}"/>
              </a:ext>
            </a:extLst>
          </p:cNvPr>
          <p:cNvSpPr txBox="1"/>
          <p:nvPr/>
        </p:nvSpPr>
        <p:spPr>
          <a:xfrm>
            <a:off x="910300" y="1606238"/>
            <a:ext cx="5639896" cy="5704447"/>
          </a:xfrm>
          <a:prstGeom prst="rect">
            <a:avLst/>
          </a:prstGeom>
          <a:noFill/>
        </p:spPr>
        <p:txBody>
          <a:bodyPr wrap="square">
            <a:spAutoFit/>
          </a:bodyPr>
          <a:lstStyle/>
          <a:p>
            <a:pPr marL="457200" indent="-457200" algn="just">
              <a:lnSpc>
                <a:spcPct val="150000"/>
              </a:lnSpc>
              <a:buAutoNum type="arabicPeriod"/>
            </a:pPr>
            <a:r>
              <a:rPr lang="en-US" sz="2400" b="1" dirty="0">
                <a:latin typeface="Times New Roman" panose="02020603050405020304" pitchFamily="18" charset="0"/>
                <a:cs typeface="Times New Roman" panose="02020603050405020304" pitchFamily="18" charset="0"/>
              </a:rPr>
              <a:t>Import Libraries</a:t>
            </a:r>
          </a:p>
          <a:p>
            <a:pPr>
              <a:lnSpc>
                <a:spcPct val="150000"/>
              </a:lnSpc>
            </a:pPr>
            <a:r>
              <a:rPr lang="en-IN" dirty="0">
                <a:latin typeface="Times New Roman" panose="02020603050405020304" pitchFamily="18" charset="0"/>
                <a:cs typeface="Times New Roman" panose="02020603050405020304" pitchFamily="18" charset="0"/>
              </a:rPr>
              <a:t>import pandas as pd</a:t>
            </a:r>
          </a:p>
          <a:p>
            <a:pPr>
              <a:lnSpc>
                <a:spcPct val="150000"/>
              </a:lnSpc>
            </a:pPr>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as np</a:t>
            </a:r>
          </a:p>
          <a:p>
            <a:pPr>
              <a:lnSpc>
                <a:spcPct val="150000"/>
              </a:lnSpc>
            </a:pPr>
            <a:r>
              <a:rPr lang="en-IN" dirty="0">
                <a:latin typeface="Times New Roman" panose="02020603050405020304" pitchFamily="18" charset="0"/>
                <a:cs typeface="Times New Roman" panose="02020603050405020304" pitchFamily="18" charset="0"/>
              </a:rPr>
              <a:t>import torch</a:t>
            </a:r>
          </a:p>
          <a:p>
            <a:pPr>
              <a:lnSpc>
                <a:spcPct val="150000"/>
              </a:lnSpc>
              <a:buNone/>
            </a:pPr>
            <a:r>
              <a:rPr lang="en-US" dirty="0">
                <a:latin typeface="Times New Roman" panose="02020603050405020304" pitchFamily="18" charset="0"/>
                <a:cs typeface="Times New Roman" panose="02020603050405020304" pitchFamily="18" charset="0"/>
              </a:rPr>
              <a:t>import </a:t>
            </a:r>
            <a:r>
              <a:rPr lang="en-US" dirty="0" err="1">
                <a:latin typeface="Times New Roman" panose="02020603050405020304" pitchFamily="18" charset="0"/>
                <a:cs typeface="Times New Roman" panose="02020603050405020304" pitchFamily="18" charset="0"/>
              </a:rPr>
              <a:t>nltk</a:t>
            </a:r>
            <a:endParaRPr lang="en-US" dirty="0">
              <a:latin typeface="Times New Roman" panose="02020603050405020304" pitchFamily="18" charset="0"/>
              <a:cs typeface="Times New Roman" panose="02020603050405020304" pitchFamily="18" charset="0"/>
            </a:endParaRPr>
          </a:p>
          <a:p>
            <a:pPr>
              <a:lnSpc>
                <a:spcPct val="150000"/>
              </a:lnSpc>
              <a:buNone/>
            </a:pPr>
            <a:r>
              <a:rPr lang="en-US" dirty="0">
                <a:latin typeface="Times New Roman" panose="02020603050405020304" pitchFamily="18" charset="0"/>
                <a:cs typeface="Times New Roman" panose="02020603050405020304" pitchFamily="18" charset="0"/>
              </a:rPr>
              <a:t>from </a:t>
            </a:r>
            <a:r>
              <a:rPr lang="en-US" dirty="0" err="1">
                <a:latin typeface="Times New Roman" panose="02020603050405020304" pitchFamily="18" charset="0"/>
                <a:cs typeface="Times New Roman" panose="02020603050405020304" pitchFamily="18" charset="0"/>
              </a:rPr>
              <a:t>tqdm</a:t>
            </a:r>
            <a:r>
              <a:rPr lang="en-US" dirty="0">
                <a:latin typeface="Times New Roman" panose="02020603050405020304" pitchFamily="18" charset="0"/>
                <a:cs typeface="Times New Roman" panose="02020603050405020304" pitchFamily="18" charset="0"/>
              </a:rPr>
              <a:t> import </a:t>
            </a:r>
            <a:r>
              <a:rPr lang="en-US" dirty="0" err="1">
                <a:latin typeface="Times New Roman" panose="02020603050405020304" pitchFamily="18" charset="0"/>
                <a:cs typeface="Times New Roman" panose="02020603050405020304" pitchFamily="18" charset="0"/>
              </a:rPr>
              <a:t>tqdm</a:t>
            </a:r>
            <a:endParaRPr lang="en-US" dirty="0">
              <a:latin typeface="Times New Roman" panose="02020603050405020304" pitchFamily="18" charset="0"/>
              <a:cs typeface="Times New Roman" panose="02020603050405020304" pitchFamily="18" charset="0"/>
            </a:endParaRPr>
          </a:p>
          <a:p>
            <a:pPr>
              <a:lnSpc>
                <a:spcPct val="150000"/>
              </a:lnSpc>
              <a:buNone/>
            </a:pPr>
            <a:endParaRPr lang="en-US" b="1"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sklearn.model_selection</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train_test_split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sklearn.ensemble</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RandomForestClassifier</a:t>
            </a:r>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sklearn.metrics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accuracy_score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classification_report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sklearn.preprocessing</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LabelEncode</a:t>
            </a:r>
            <a:br>
              <a:rPr lang="en-IN"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pic>
        <p:nvPicPr>
          <p:cNvPr id="2" name="Picture 1" descr="A logo with a flower&#10;&#10;Description automatically generated">
            <a:extLst>
              <a:ext uri="{FF2B5EF4-FFF2-40B4-BE49-F238E27FC236}">
                <a16:creationId xmlns:a16="http://schemas.microsoft.com/office/drawing/2014/main" id="{1330111D-48F3-AEA0-1B45-6D7784BD5FC7}"/>
              </a:ext>
            </a:extLst>
          </p:cNvPr>
          <p:cNvPicPr>
            <a:picLocks noChangeAspect="1"/>
          </p:cNvPicPr>
          <p:nvPr/>
        </p:nvPicPr>
        <p:blipFill>
          <a:blip r:embed="rId2"/>
          <a:stretch>
            <a:fillRect/>
          </a:stretch>
        </p:blipFill>
        <p:spPr>
          <a:xfrm>
            <a:off x="10371159" y="283313"/>
            <a:ext cx="1525679" cy="1322925"/>
          </a:xfrm>
          <a:prstGeom prst="rect">
            <a:avLst/>
          </a:prstGeom>
        </p:spPr>
      </p:pic>
      <p:sp>
        <p:nvSpPr>
          <p:cNvPr id="3" name="TextBox 2">
            <a:extLst>
              <a:ext uri="{FF2B5EF4-FFF2-40B4-BE49-F238E27FC236}">
                <a16:creationId xmlns:a16="http://schemas.microsoft.com/office/drawing/2014/main" id="{E67A3D18-36FD-50D7-751B-30256DAA3B94}"/>
              </a:ext>
            </a:extLst>
          </p:cNvPr>
          <p:cNvSpPr txBox="1"/>
          <p:nvPr/>
        </p:nvSpPr>
        <p:spPr>
          <a:xfrm>
            <a:off x="6528614" y="2048690"/>
            <a:ext cx="5893621" cy="4618380"/>
          </a:xfrm>
          <a:prstGeom prst="rect">
            <a:avLst/>
          </a:prstGeom>
          <a:noFill/>
        </p:spPr>
        <p:txBody>
          <a:bodyPr wrap="square" rtlCol="0">
            <a:spAutoFit/>
          </a:bodyPr>
          <a:lstStyle/>
          <a:p>
            <a:pPr>
              <a:lnSpc>
                <a:spcPct val="150000"/>
              </a:lnSpc>
            </a:pPr>
            <a:br>
              <a:rPr lang="en-IN" dirty="0"/>
            </a:br>
            <a:r>
              <a:rPr lang="en-IN" dirty="0">
                <a:latin typeface="Times New Roman" panose="02020603050405020304" pitchFamily="18" charset="0"/>
                <a:cs typeface="Times New Roman" panose="02020603050405020304" pitchFamily="18" charset="0"/>
              </a:rPr>
              <a:t>from transformers import </a:t>
            </a:r>
            <a:r>
              <a:rPr lang="en-IN" dirty="0" err="1">
                <a:latin typeface="Times New Roman" panose="02020603050405020304" pitchFamily="18" charset="0"/>
                <a:cs typeface="Times New Roman" panose="02020603050405020304" pitchFamily="18" charset="0"/>
              </a:rPr>
              <a:t>AutoTokenizer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AutoModel</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nltk.corpus</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stopwords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nltk.tokenize</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word_tokenize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from </a:t>
            </a:r>
            <a:r>
              <a:rPr lang="en-IN" dirty="0" err="1">
                <a:latin typeface="Times New Roman" panose="02020603050405020304" pitchFamily="18" charset="0"/>
                <a:cs typeface="Times New Roman" panose="02020603050405020304" pitchFamily="18" charset="0"/>
              </a:rPr>
              <a:t>nltk.stem</a:t>
            </a:r>
            <a:r>
              <a:rPr lang="en-IN" dirty="0">
                <a:latin typeface="Times New Roman" panose="02020603050405020304" pitchFamily="18" charset="0"/>
                <a:cs typeface="Times New Roman" panose="02020603050405020304" pitchFamily="18" charset="0"/>
              </a:rPr>
              <a:t> import </a:t>
            </a:r>
            <a:r>
              <a:rPr lang="en-IN" dirty="0" err="1">
                <a:latin typeface="Times New Roman" panose="02020603050405020304" pitchFamily="18" charset="0"/>
                <a:cs typeface="Times New Roman" panose="02020603050405020304" pitchFamily="18" charset="0"/>
              </a:rPr>
              <a:t>WordNetLemmatizer</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t># Download NLTK data</a:t>
            </a:r>
            <a:br>
              <a:rPr lang="en-IN" dirty="0"/>
            </a:br>
            <a:r>
              <a:rPr lang="en-IN" dirty="0" err="1"/>
              <a:t>nltk.download</a:t>
            </a:r>
            <a:r>
              <a:rPr lang="en-IN" dirty="0"/>
              <a:t>('</a:t>
            </a:r>
            <a:r>
              <a:rPr lang="en-IN" dirty="0" err="1"/>
              <a:t>punkt</a:t>
            </a:r>
            <a:r>
              <a:rPr lang="en-IN" dirty="0"/>
              <a:t>')</a:t>
            </a:r>
            <a:br>
              <a:rPr lang="en-IN" dirty="0"/>
            </a:br>
            <a:r>
              <a:rPr lang="en-IN" dirty="0" err="1"/>
              <a:t>nltk.download</a:t>
            </a:r>
            <a:r>
              <a:rPr lang="en-IN" dirty="0"/>
              <a:t>('</a:t>
            </a:r>
            <a:r>
              <a:rPr lang="en-IN" dirty="0" err="1"/>
              <a:t>stopwords</a:t>
            </a:r>
            <a:r>
              <a:rPr lang="en-IN" dirty="0"/>
              <a:t>')</a:t>
            </a:r>
            <a:br>
              <a:rPr lang="en-IN" dirty="0"/>
            </a:br>
            <a:r>
              <a:rPr lang="en-IN" dirty="0" err="1"/>
              <a:t>nltk.download</a:t>
            </a:r>
            <a:r>
              <a:rPr lang="en-IN" dirty="0"/>
              <a:t>('wordnet')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544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E93E-890D-8D8E-95F9-C52CA8DE666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81E7C89-8C98-ED4A-5FB3-AF0BCAED3275}"/>
              </a:ext>
            </a:extLst>
          </p:cNvPr>
          <p:cNvSpPr txBox="1"/>
          <p:nvPr/>
        </p:nvSpPr>
        <p:spPr>
          <a:xfrm>
            <a:off x="601113" y="1106129"/>
            <a:ext cx="5815211" cy="3925883"/>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2. Load Dataset</a:t>
            </a:r>
          </a:p>
          <a:p>
            <a:pPr>
              <a:lnSpc>
                <a:spcPct val="150000"/>
              </a:lnSpc>
              <a:buNone/>
            </a:pPr>
            <a:r>
              <a:rPr lang="en-US" dirty="0">
                <a:latin typeface="Times New Roman" panose="02020603050405020304" pitchFamily="18" charset="0"/>
                <a:cs typeface="Times New Roman" panose="02020603050405020304" pitchFamily="18" charset="0"/>
              </a:rPr>
              <a:t>def </a:t>
            </a:r>
            <a:r>
              <a:rPr lang="en-US" dirty="0" err="1">
                <a:latin typeface="Times New Roman" panose="02020603050405020304" pitchFamily="18" charset="0"/>
                <a:cs typeface="Times New Roman" panose="02020603050405020304" pitchFamily="18" charset="0"/>
              </a:rPr>
              <a:t>load_data</a:t>
            </a:r>
            <a:r>
              <a:rPr lang="en-US" dirty="0">
                <a:latin typeface="Times New Roman" panose="02020603050405020304" pitchFamily="18" charset="0"/>
                <a:cs typeface="Times New Roman" panose="02020603050405020304" pitchFamily="18" charset="0"/>
              </a:rPr>
              <a:t>(path):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df</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pd.read_csv</a:t>
            </a:r>
            <a:r>
              <a:rPr lang="en-US" dirty="0">
                <a:latin typeface="Times New Roman" panose="02020603050405020304" pitchFamily="18" charset="0"/>
                <a:cs typeface="Times New Roman" panose="02020603050405020304" pitchFamily="18" charset="0"/>
              </a:rPr>
              <a:t>(path)</a:t>
            </a:r>
          </a:p>
          <a:p>
            <a:pPr>
              <a:lnSpc>
                <a:spcPct val="150000"/>
              </a:lnSpc>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df.drop</a:t>
            </a:r>
            <a:r>
              <a:rPr lang="en-IN" dirty="0">
                <a:latin typeface="Times New Roman" panose="02020603050405020304" pitchFamily="18" charset="0"/>
                <a:cs typeface="Times New Roman" panose="02020603050405020304" pitchFamily="18" charset="0"/>
              </a:rPr>
              <a:t>(columns=["Unnamed: 0"], errors='ignore’)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df.dropna</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df.reset_index</a:t>
            </a:r>
            <a:r>
              <a:rPr lang="en-IN" dirty="0">
                <a:latin typeface="Times New Roman" panose="02020603050405020304" pitchFamily="18" charset="0"/>
                <a:cs typeface="Times New Roman" panose="02020603050405020304" pitchFamily="18" charset="0"/>
              </a:rPr>
              <a:t>(drop=True)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return </a:t>
            </a:r>
            <a:r>
              <a:rPr lang="en-IN" dirty="0" err="1">
                <a:latin typeface="Times New Roman" panose="02020603050405020304" pitchFamily="18" charset="0"/>
                <a:cs typeface="Times New Roman" panose="02020603050405020304" pitchFamily="18" charset="0"/>
              </a:rPr>
              <a:t>df</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load_data</a:t>
            </a:r>
            <a:r>
              <a:rPr lang="en-IN" dirty="0">
                <a:latin typeface="Times New Roman" panose="02020603050405020304" pitchFamily="18" charset="0"/>
                <a:cs typeface="Times New Roman" panose="02020603050405020304" pitchFamily="18" charset="0"/>
              </a:rPr>
              <a:t>("Dataset/mtsamples.csv")</a:t>
            </a:r>
            <a:endParaRPr lang="en-US" dirty="0">
              <a:latin typeface="Times New Roman" panose="02020603050405020304" pitchFamily="18" charset="0"/>
              <a:cs typeface="Times New Roman" panose="02020603050405020304" pitchFamily="18" charset="0"/>
            </a:endParaRPr>
          </a:p>
        </p:txBody>
      </p:sp>
      <p:pic>
        <p:nvPicPr>
          <p:cNvPr id="2" name="Picture 1" descr="A logo with a flower&#10;&#10;Description automatically generated">
            <a:extLst>
              <a:ext uri="{FF2B5EF4-FFF2-40B4-BE49-F238E27FC236}">
                <a16:creationId xmlns:a16="http://schemas.microsoft.com/office/drawing/2014/main" id="{99C02643-ECF6-A2E2-4322-208A6AD46618}"/>
              </a:ext>
            </a:extLst>
          </p:cNvPr>
          <p:cNvPicPr>
            <a:picLocks noChangeAspect="1"/>
          </p:cNvPicPr>
          <p:nvPr/>
        </p:nvPicPr>
        <p:blipFill>
          <a:blip r:embed="rId2"/>
          <a:stretch>
            <a:fillRect/>
          </a:stretch>
        </p:blipFill>
        <p:spPr>
          <a:xfrm>
            <a:off x="10439985" y="133301"/>
            <a:ext cx="1525679" cy="1322925"/>
          </a:xfrm>
          <a:prstGeom prst="rect">
            <a:avLst/>
          </a:prstGeom>
        </p:spPr>
      </p:pic>
      <p:sp>
        <p:nvSpPr>
          <p:cNvPr id="9" name="TextBox 8">
            <a:extLst>
              <a:ext uri="{FF2B5EF4-FFF2-40B4-BE49-F238E27FC236}">
                <a16:creationId xmlns:a16="http://schemas.microsoft.com/office/drawing/2014/main" id="{2CDA3B75-070E-6504-B872-6858DF3DB3D0}"/>
              </a:ext>
            </a:extLst>
          </p:cNvPr>
          <p:cNvSpPr txBox="1"/>
          <p:nvPr/>
        </p:nvSpPr>
        <p:spPr>
          <a:xfrm>
            <a:off x="6499123" y="1106129"/>
            <a:ext cx="6096000" cy="5397888"/>
          </a:xfrm>
          <a:prstGeom prst="rect">
            <a:avLst/>
          </a:prstGeom>
          <a:noFill/>
        </p:spPr>
        <p:txBody>
          <a:bodyPr wrap="square">
            <a:spAutoFit/>
          </a:bodyPr>
          <a:lstStyle/>
          <a:p>
            <a:r>
              <a:rPr lang="en-IN" sz="2400" b="1" dirty="0">
                <a:effectLst/>
                <a:latin typeface="Times New Roman" panose="02020603050405020304" pitchFamily="18" charset="0"/>
                <a:cs typeface="Times New Roman" panose="02020603050405020304" pitchFamily="18" charset="0"/>
              </a:rPr>
              <a:t>3. Text Preprocessing</a:t>
            </a:r>
          </a:p>
          <a:p>
            <a:pPr>
              <a:lnSpc>
                <a:spcPct val="150000"/>
              </a:lnSpc>
            </a:pPr>
            <a:r>
              <a:rPr lang="en-IN" b="0" dirty="0" err="1">
                <a:effectLst/>
                <a:latin typeface="Times New Roman" panose="02020603050405020304" pitchFamily="18" charset="0"/>
                <a:cs typeface="Times New Roman" panose="02020603050405020304" pitchFamily="18" charset="0"/>
              </a:rPr>
              <a:t>lemmatizer</a:t>
            </a:r>
            <a:r>
              <a:rPr lang="en-IN" b="0" dirty="0">
                <a:effectLst/>
                <a:latin typeface="Times New Roman" panose="02020603050405020304" pitchFamily="18" charset="0"/>
                <a:cs typeface="Times New Roman" panose="02020603050405020304" pitchFamily="18" charset="0"/>
              </a:rPr>
              <a:t> = </a:t>
            </a:r>
            <a:r>
              <a:rPr lang="en-IN" b="0" dirty="0" err="1">
                <a:effectLst/>
                <a:latin typeface="Times New Roman" panose="02020603050405020304" pitchFamily="18" charset="0"/>
                <a:cs typeface="Times New Roman" panose="02020603050405020304" pitchFamily="18" charset="0"/>
              </a:rPr>
              <a:t>WordNetLemmatizer</a:t>
            </a:r>
            <a:r>
              <a:rPr lang="en-IN" b="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dirty="0" err="1">
                <a:effectLst/>
                <a:latin typeface="Times New Roman" panose="02020603050405020304" pitchFamily="18" charset="0"/>
                <a:cs typeface="Times New Roman" panose="02020603050405020304" pitchFamily="18" charset="0"/>
              </a:rPr>
              <a:t>stop_words</a:t>
            </a:r>
            <a:r>
              <a:rPr lang="en-IN" b="0" dirty="0">
                <a:effectLst/>
                <a:latin typeface="Times New Roman" panose="02020603050405020304" pitchFamily="18" charset="0"/>
                <a:cs typeface="Times New Roman" panose="02020603050405020304" pitchFamily="18" charset="0"/>
              </a:rPr>
              <a:t> = set(</a:t>
            </a:r>
            <a:r>
              <a:rPr lang="en-IN" b="0" dirty="0" err="1">
                <a:effectLst/>
                <a:latin typeface="Times New Roman" panose="02020603050405020304" pitchFamily="18" charset="0"/>
                <a:cs typeface="Times New Roman" panose="02020603050405020304" pitchFamily="18" charset="0"/>
              </a:rPr>
              <a:t>stopwords.words</a:t>
            </a:r>
            <a:r>
              <a:rPr lang="en-IN" b="0" dirty="0">
                <a:effectLst/>
                <a:latin typeface="Times New Roman" panose="02020603050405020304" pitchFamily="18" charset="0"/>
                <a:cs typeface="Times New Roman" panose="02020603050405020304" pitchFamily="18" charset="0"/>
              </a:rPr>
              <a:t>('</a:t>
            </a:r>
            <a:r>
              <a:rPr lang="en-IN" b="0" dirty="0" err="1">
                <a:effectLst/>
                <a:latin typeface="Times New Roman" panose="02020603050405020304" pitchFamily="18" charset="0"/>
                <a:cs typeface="Times New Roman" panose="02020603050405020304" pitchFamily="18" charset="0"/>
              </a:rPr>
              <a:t>english</a:t>
            </a:r>
            <a:r>
              <a:rPr lang="en-IN" b="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def </a:t>
            </a:r>
            <a:r>
              <a:rPr lang="en-IN" b="0" dirty="0" err="1">
                <a:effectLst/>
                <a:latin typeface="Times New Roman" panose="02020603050405020304" pitchFamily="18" charset="0"/>
                <a:cs typeface="Times New Roman" panose="02020603050405020304" pitchFamily="18" charset="0"/>
              </a:rPr>
              <a:t>clean_text</a:t>
            </a:r>
            <a:r>
              <a:rPr lang="en-IN" b="0" dirty="0">
                <a:effectLst/>
                <a:latin typeface="Times New Roman" panose="02020603050405020304" pitchFamily="18" charset="0"/>
                <a:cs typeface="Times New Roman" panose="02020603050405020304" pitchFamily="18" charset="0"/>
              </a:rPr>
              <a:t>(text):</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text = str(text).lower()</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tokens = </a:t>
            </a:r>
            <a:r>
              <a:rPr lang="en-IN" b="0" dirty="0" err="1">
                <a:effectLst/>
                <a:latin typeface="Times New Roman" panose="02020603050405020304" pitchFamily="18" charset="0"/>
                <a:cs typeface="Times New Roman" panose="02020603050405020304" pitchFamily="18" charset="0"/>
              </a:rPr>
              <a:t>word_tokenize</a:t>
            </a:r>
            <a:r>
              <a:rPr lang="en-IN" b="0" dirty="0">
                <a:effectLst/>
                <a:latin typeface="Times New Roman" panose="02020603050405020304" pitchFamily="18" charset="0"/>
                <a:cs typeface="Times New Roman" panose="02020603050405020304" pitchFamily="18" charset="0"/>
              </a:rPr>
              <a:t>(text)</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tokens = [</a:t>
            </a:r>
            <a:br>
              <a:rPr lang="en-IN" dirty="0">
                <a:latin typeface="Times New Roman" panose="02020603050405020304" pitchFamily="18" charset="0"/>
                <a:cs typeface="Times New Roman" panose="02020603050405020304" pitchFamily="18" charset="0"/>
              </a:rPr>
            </a:br>
            <a:r>
              <a:rPr lang="en-IN" b="0" dirty="0" err="1">
                <a:effectLst/>
                <a:latin typeface="Times New Roman" panose="02020603050405020304" pitchFamily="18" charset="0"/>
                <a:cs typeface="Times New Roman" panose="02020603050405020304" pitchFamily="18" charset="0"/>
              </a:rPr>
              <a:t>lemmatizer.lemmatize</a:t>
            </a:r>
            <a:r>
              <a:rPr lang="en-IN" b="0" dirty="0">
                <a:effectLst/>
                <a:latin typeface="Times New Roman" panose="02020603050405020304" pitchFamily="18" charset="0"/>
                <a:cs typeface="Times New Roman" panose="02020603050405020304" pitchFamily="18" charset="0"/>
              </a:rPr>
              <a:t>(word)</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for word in tokens</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if </a:t>
            </a:r>
            <a:r>
              <a:rPr lang="en-IN" b="0" dirty="0" err="1">
                <a:effectLst/>
                <a:latin typeface="Times New Roman" panose="02020603050405020304" pitchFamily="18" charset="0"/>
                <a:cs typeface="Times New Roman" panose="02020603050405020304" pitchFamily="18" charset="0"/>
              </a:rPr>
              <a:t>word.isalnum</a:t>
            </a:r>
            <a:r>
              <a:rPr lang="en-IN" b="0" dirty="0">
                <a:effectLst/>
                <a:latin typeface="Times New Roman" panose="02020603050405020304" pitchFamily="18" charset="0"/>
                <a:cs typeface="Times New Roman" panose="02020603050405020304" pitchFamily="18" charset="0"/>
              </a:rPr>
              <a:t>() and word not in </a:t>
            </a:r>
            <a:r>
              <a:rPr lang="en-IN" b="0" dirty="0" err="1">
                <a:effectLst/>
                <a:latin typeface="Times New Roman" panose="02020603050405020304" pitchFamily="18" charset="0"/>
                <a:cs typeface="Times New Roman" panose="02020603050405020304" pitchFamily="18" charset="0"/>
              </a:rPr>
              <a:t>stop_words</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dirty="0">
                <a:effectLst/>
                <a:latin typeface="Times New Roman" panose="02020603050405020304" pitchFamily="18" charset="0"/>
                <a:cs typeface="Times New Roman" panose="02020603050405020304" pitchFamily="18" charset="0"/>
              </a:rPr>
              <a:t>return " ".join(tokens)</a:t>
            </a:r>
            <a:br>
              <a:rPr lang="en-IN" dirty="0">
                <a:latin typeface="Times New Roman" panose="02020603050405020304" pitchFamily="18" charset="0"/>
                <a:cs typeface="Times New Roman" panose="02020603050405020304" pitchFamily="18" charset="0"/>
              </a:rPr>
            </a:br>
            <a:r>
              <a:rPr lang="en-IN" b="0" dirty="0" err="1">
                <a:effectLst/>
                <a:latin typeface="Times New Roman" panose="02020603050405020304" pitchFamily="18" charset="0"/>
                <a:cs typeface="Times New Roman" panose="02020603050405020304" pitchFamily="18" charset="0"/>
              </a:rPr>
              <a:t>df</a:t>
            </a:r>
            <a:r>
              <a:rPr lang="en-IN" b="0" dirty="0">
                <a:effectLst/>
                <a:latin typeface="Times New Roman" panose="02020603050405020304" pitchFamily="18" charset="0"/>
                <a:cs typeface="Times New Roman" panose="02020603050405020304" pitchFamily="18" charset="0"/>
              </a:rPr>
              <a:t>["</a:t>
            </a:r>
            <a:r>
              <a:rPr lang="en-IN" b="0" dirty="0" err="1">
                <a:effectLst/>
                <a:latin typeface="Times New Roman" panose="02020603050405020304" pitchFamily="18" charset="0"/>
                <a:cs typeface="Times New Roman" panose="02020603050405020304" pitchFamily="18" charset="0"/>
              </a:rPr>
              <a:t>clean_text</a:t>
            </a:r>
            <a:r>
              <a:rPr lang="en-IN" b="0" dirty="0">
                <a:effectLst/>
                <a:latin typeface="Times New Roman" panose="02020603050405020304" pitchFamily="18" charset="0"/>
                <a:cs typeface="Times New Roman" panose="02020603050405020304" pitchFamily="18" charset="0"/>
              </a:rPr>
              <a:t>"] = </a:t>
            </a:r>
            <a:r>
              <a:rPr lang="en-IN" b="0" dirty="0" err="1">
                <a:effectLst/>
                <a:latin typeface="Times New Roman" panose="02020603050405020304" pitchFamily="18" charset="0"/>
                <a:cs typeface="Times New Roman" panose="02020603050405020304" pitchFamily="18" charset="0"/>
              </a:rPr>
              <a:t>df</a:t>
            </a:r>
            <a:r>
              <a:rPr lang="en-IN" b="0" dirty="0">
                <a:effectLst/>
                <a:latin typeface="Times New Roman" panose="02020603050405020304" pitchFamily="18" charset="0"/>
                <a:cs typeface="Times New Roman" panose="02020603050405020304" pitchFamily="18" charset="0"/>
              </a:rPr>
              <a:t>["description"].apply(</a:t>
            </a:r>
            <a:r>
              <a:rPr lang="en-IN" b="0" dirty="0" err="1">
                <a:effectLst/>
                <a:latin typeface="Times New Roman" panose="02020603050405020304" pitchFamily="18" charset="0"/>
                <a:cs typeface="Times New Roman" panose="02020603050405020304" pitchFamily="18" charset="0"/>
              </a:rPr>
              <a:t>clean_text</a:t>
            </a:r>
            <a:r>
              <a:rPr lang="en-IN" b="0" dirty="0">
                <a:solidFill>
                  <a:srgbClr val="0D0D0D"/>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42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DACA27-CF4D-3D17-9CFC-919BE12AD746}"/>
              </a:ext>
            </a:extLst>
          </p:cNvPr>
          <p:cNvSpPr txBox="1"/>
          <p:nvPr/>
        </p:nvSpPr>
        <p:spPr>
          <a:xfrm>
            <a:off x="452477" y="972020"/>
            <a:ext cx="6096000" cy="5167056"/>
          </a:xfrm>
          <a:prstGeom prst="rect">
            <a:avLst/>
          </a:prstGeom>
          <a:noFill/>
        </p:spPr>
        <p:txBody>
          <a:bodyPr wrap="square">
            <a:spAutoFit/>
          </a:bodyPr>
          <a:lstStyle/>
          <a:p>
            <a:pPr>
              <a:lnSpc>
                <a:spcPct val="150000"/>
              </a:lnSpc>
            </a:pPr>
            <a:r>
              <a:rPr lang="en-IN" sz="2400" b="1" dirty="0">
                <a:effectLst/>
                <a:latin typeface="Times New Roman" panose="02020603050405020304" pitchFamily="18" charset="0"/>
                <a:cs typeface="Times New Roman" panose="02020603050405020304" pitchFamily="18" charset="0"/>
              </a:rPr>
              <a:t>5. ELECTRA Feature Extraction</a:t>
            </a:r>
            <a:br>
              <a:rPr lang="en-IN" dirty="0"/>
            </a:br>
            <a:r>
              <a:rPr lang="en-IN" b="0" i="0" dirty="0">
                <a:effectLst/>
                <a:latin typeface="Times New Roman" panose="02020603050405020304" pitchFamily="18" charset="0"/>
                <a:cs typeface="Times New Roman" panose="02020603050405020304" pitchFamily="18" charset="0"/>
              </a:rPr>
              <a:t>def </a:t>
            </a:r>
            <a:r>
              <a:rPr lang="en-IN" b="0" i="0" dirty="0" err="1">
                <a:effectLst/>
                <a:latin typeface="Times New Roman" panose="02020603050405020304" pitchFamily="18" charset="0"/>
                <a:cs typeface="Times New Roman" panose="02020603050405020304" pitchFamily="18" charset="0"/>
              </a:rPr>
              <a:t>electra_embeddings</a:t>
            </a:r>
            <a:r>
              <a:rPr lang="en-IN" b="0" i="0" dirty="0">
                <a:effectLst/>
                <a:latin typeface="Times New Roman" panose="02020603050405020304" pitchFamily="18" charset="0"/>
                <a:cs typeface="Times New Roman" panose="02020603050405020304" pitchFamily="18" charset="0"/>
              </a:rPr>
              <a:t>(texts, </a:t>
            </a:r>
            <a:r>
              <a:rPr lang="en-IN" b="0" i="0" dirty="0" err="1">
                <a:effectLst/>
                <a:latin typeface="Times New Roman" panose="02020603050405020304" pitchFamily="18" charset="0"/>
                <a:cs typeface="Times New Roman" panose="02020603050405020304" pitchFamily="18" charset="0"/>
              </a:rPr>
              <a:t>batch_size</a:t>
            </a:r>
            <a:r>
              <a:rPr lang="en-IN" b="0" i="0" dirty="0">
                <a:effectLst/>
                <a:latin typeface="Times New Roman" panose="02020603050405020304" pitchFamily="18" charset="0"/>
                <a:cs typeface="Times New Roman" panose="02020603050405020304" pitchFamily="18" charset="0"/>
              </a:rPr>
              <a:t>=16):</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tokenizer = </a:t>
            </a:r>
            <a:r>
              <a:rPr lang="en-IN" b="0" i="0" dirty="0" err="1">
                <a:effectLst/>
                <a:latin typeface="Times New Roman" panose="02020603050405020304" pitchFamily="18" charset="0"/>
                <a:cs typeface="Times New Roman" panose="02020603050405020304" pitchFamily="18" charset="0"/>
              </a:rPr>
              <a:t>AutoTokenizer.from_pretrained</a:t>
            </a:r>
            <a:r>
              <a:rPr lang="en-IN" b="0" i="0" dirty="0">
                <a:effectLst/>
                <a:latin typeface="Times New Roman" panose="02020603050405020304" pitchFamily="18" charset="0"/>
                <a:cs typeface="Times New Roman" panose="02020603050405020304" pitchFamily="18" charset="0"/>
              </a:rPr>
              <a:t>("google/</a:t>
            </a:r>
            <a:r>
              <a:rPr lang="en-IN" b="0" i="0" dirty="0" err="1">
                <a:effectLst/>
                <a:latin typeface="Times New Roman" panose="02020603050405020304" pitchFamily="18" charset="0"/>
                <a:cs typeface="Times New Roman" panose="02020603050405020304" pitchFamily="18" charset="0"/>
              </a:rPr>
              <a:t>electra</a:t>
            </a:r>
            <a:r>
              <a:rPr lang="en-IN" b="0" i="0" dirty="0">
                <a:effectLst/>
                <a:latin typeface="Times New Roman" panose="02020603050405020304" pitchFamily="18" charset="0"/>
                <a:cs typeface="Times New Roman" panose="02020603050405020304" pitchFamily="18" charset="0"/>
              </a:rPr>
              <a:t>-base-discriminator")</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model = </a:t>
            </a:r>
            <a:r>
              <a:rPr lang="en-IN" b="0" i="0" dirty="0" err="1">
                <a:effectLst/>
                <a:latin typeface="Times New Roman" panose="02020603050405020304" pitchFamily="18" charset="0"/>
                <a:cs typeface="Times New Roman" panose="02020603050405020304" pitchFamily="18" charset="0"/>
              </a:rPr>
              <a:t>AutoModel.from_pretrained</a:t>
            </a:r>
            <a:r>
              <a:rPr lang="en-IN" b="0" i="0" dirty="0">
                <a:effectLst/>
                <a:latin typeface="Times New Roman" panose="02020603050405020304" pitchFamily="18" charset="0"/>
                <a:cs typeface="Times New Roman" panose="02020603050405020304" pitchFamily="18" charset="0"/>
              </a:rPr>
              <a:t>("google/</a:t>
            </a:r>
            <a:r>
              <a:rPr lang="en-IN" b="0" i="0" dirty="0" err="1">
                <a:effectLst/>
                <a:latin typeface="Times New Roman" panose="02020603050405020304" pitchFamily="18" charset="0"/>
                <a:cs typeface="Times New Roman" panose="02020603050405020304" pitchFamily="18" charset="0"/>
              </a:rPr>
              <a:t>electra</a:t>
            </a:r>
            <a:r>
              <a:rPr lang="en-IN" b="0" i="0" dirty="0">
                <a:effectLst/>
                <a:latin typeface="Times New Roman" panose="02020603050405020304" pitchFamily="18" charset="0"/>
                <a:cs typeface="Times New Roman" panose="02020603050405020304" pitchFamily="18" charset="0"/>
              </a:rPr>
              <a:t>-base-discriminator")</a:t>
            </a:r>
            <a:br>
              <a:rPr lang="en-IN" dirty="0">
                <a:latin typeface="Times New Roman" panose="02020603050405020304" pitchFamily="18" charset="0"/>
                <a:cs typeface="Times New Roman" panose="02020603050405020304" pitchFamily="18" charset="0"/>
              </a:rPr>
            </a:br>
            <a:r>
              <a:rPr lang="en-IN" b="0" i="0" dirty="0" err="1">
                <a:effectLst/>
                <a:latin typeface="Times New Roman" panose="02020603050405020304" pitchFamily="18" charset="0"/>
                <a:cs typeface="Times New Roman" panose="02020603050405020304" pitchFamily="18" charset="0"/>
              </a:rPr>
              <a:t>model.eval</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err="1">
                <a:effectLst/>
                <a:latin typeface="Times New Roman" panose="02020603050405020304" pitchFamily="18" charset="0"/>
                <a:cs typeface="Times New Roman" panose="02020603050405020304" pitchFamily="18" charset="0"/>
              </a:rPr>
              <a:t>all_embeddings</a:t>
            </a:r>
            <a:r>
              <a:rPr lang="en-IN" b="0" i="0" dirty="0">
                <a:effectLst/>
                <a:latin typeface="Times New Roman" panose="02020603050405020304" pitchFamily="18" charset="0"/>
                <a:cs typeface="Times New Roman" panose="02020603050405020304" pitchFamily="18" charset="0"/>
              </a:rPr>
              <a:t> = []</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for </a:t>
            </a:r>
            <a:r>
              <a:rPr lang="en-IN" b="0" i="0" dirty="0" err="1">
                <a:effectLst/>
                <a:latin typeface="Times New Roman" panose="02020603050405020304" pitchFamily="18" charset="0"/>
                <a:cs typeface="Times New Roman" panose="02020603050405020304" pitchFamily="18" charset="0"/>
              </a:rPr>
              <a:t>i</a:t>
            </a:r>
            <a:r>
              <a:rPr lang="en-IN" b="0" i="0" dirty="0">
                <a:effectLst/>
                <a:latin typeface="Times New Roman" panose="02020603050405020304" pitchFamily="18" charset="0"/>
                <a:cs typeface="Times New Roman" panose="02020603050405020304" pitchFamily="18" charset="0"/>
              </a:rPr>
              <a:t> in </a:t>
            </a:r>
            <a:r>
              <a:rPr lang="en-IN" b="0" i="0" dirty="0" err="1">
                <a:effectLst/>
                <a:latin typeface="Times New Roman" panose="02020603050405020304" pitchFamily="18" charset="0"/>
                <a:cs typeface="Times New Roman" panose="02020603050405020304" pitchFamily="18" charset="0"/>
              </a:rPr>
              <a:t>tqdm</a:t>
            </a:r>
            <a:r>
              <a:rPr lang="en-IN" b="0" i="0" dirty="0">
                <a:effectLst/>
                <a:latin typeface="Times New Roman" panose="02020603050405020304" pitchFamily="18" charset="0"/>
                <a:cs typeface="Times New Roman" panose="02020603050405020304" pitchFamily="18" charset="0"/>
              </a:rPr>
              <a:t>(range(0, </a:t>
            </a:r>
            <a:r>
              <a:rPr lang="en-IN" b="0" i="0" dirty="0" err="1">
                <a:effectLst/>
                <a:latin typeface="Times New Roman" panose="02020603050405020304" pitchFamily="18" charset="0"/>
                <a:cs typeface="Times New Roman" panose="02020603050405020304" pitchFamily="18" charset="0"/>
              </a:rPr>
              <a:t>len</a:t>
            </a:r>
            <a:r>
              <a:rPr lang="en-IN" b="0" i="0" dirty="0">
                <a:effectLst/>
                <a:latin typeface="Times New Roman" panose="02020603050405020304" pitchFamily="18" charset="0"/>
                <a:cs typeface="Times New Roman" panose="02020603050405020304" pitchFamily="18" charset="0"/>
              </a:rPr>
              <a:t>(texts), </a:t>
            </a:r>
            <a:r>
              <a:rPr lang="en-IN" b="0" i="0" dirty="0" err="1">
                <a:effectLst/>
                <a:latin typeface="Times New Roman" panose="02020603050405020304" pitchFamily="18" charset="0"/>
                <a:cs typeface="Times New Roman" panose="02020603050405020304" pitchFamily="18" charset="0"/>
              </a:rPr>
              <a:t>batch_size</a:t>
            </a:r>
            <a:r>
              <a:rPr lang="en-IN" b="0" i="0" dirty="0">
                <a:effectLst/>
                <a:latin typeface="Times New Roman" panose="02020603050405020304" pitchFamily="18" charset="0"/>
                <a:cs typeface="Times New Roman" panose="02020603050405020304" pitchFamily="18" charset="0"/>
              </a:rPr>
              <a:t>), </a:t>
            </a:r>
            <a:r>
              <a:rPr lang="en-IN" b="0" i="0" dirty="0" err="1">
                <a:effectLst/>
                <a:latin typeface="Times New Roman" panose="02020603050405020304" pitchFamily="18" charset="0"/>
                <a:cs typeface="Times New Roman" panose="02020603050405020304" pitchFamily="18" charset="0"/>
              </a:rPr>
              <a:t>desc</a:t>
            </a:r>
            <a:r>
              <a:rPr lang="en-IN" b="0" i="0" dirty="0">
                <a:effectLst/>
                <a:latin typeface="Times New Roman" panose="02020603050405020304" pitchFamily="18" charset="0"/>
                <a:cs typeface="Times New Roman" panose="02020603050405020304" pitchFamily="18" charset="0"/>
              </a:rPr>
              <a:t>="Extracting Features"):</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batch = texts[</a:t>
            </a:r>
            <a:r>
              <a:rPr lang="en-IN" b="0" i="0" dirty="0" err="1">
                <a:effectLst/>
                <a:latin typeface="Times New Roman" panose="02020603050405020304" pitchFamily="18" charset="0"/>
                <a:cs typeface="Times New Roman" panose="02020603050405020304" pitchFamily="18" charset="0"/>
              </a:rPr>
              <a:t>i:i+batch_size</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inputs = tokenizer(batch, padding=True, truncation=True, </a:t>
            </a:r>
            <a:endParaRPr lang="en-IN"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04329A7B-E053-C7F5-8E13-D4036635DCA4}"/>
              </a:ext>
            </a:extLst>
          </p:cNvPr>
          <p:cNvPicPr>
            <a:picLocks noChangeAspect="1"/>
          </p:cNvPicPr>
          <p:nvPr/>
        </p:nvPicPr>
        <p:blipFill>
          <a:blip r:embed="rId2"/>
          <a:stretch>
            <a:fillRect/>
          </a:stretch>
        </p:blipFill>
        <p:spPr>
          <a:xfrm>
            <a:off x="10430153" y="96500"/>
            <a:ext cx="1525679" cy="1322925"/>
          </a:xfrm>
          <a:prstGeom prst="rect">
            <a:avLst/>
          </a:prstGeom>
        </p:spPr>
      </p:pic>
      <p:sp>
        <p:nvSpPr>
          <p:cNvPr id="6" name="TextBox 5">
            <a:extLst>
              <a:ext uri="{FF2B5EF4-FFF2-40B4-BE49-F238E27FC236}">
                <a16:creationId xmlns:a16="http://schemas.microsoft.com/office/drawing/2014/main" id="{9C78BED8-777F-4266-0388-BE1D6D808239}"/>
              </a:ext>
            </a:extLst>
          </p:cNvPr>
          <p:cNvSpPr txBox="1"/>
          <p:nvPr/>
        </p:nvSpPr>
        <p:spPr>
          <a:xfrm>
            <a:off x="6788399" y="1911362"/>
            <a:ext cx="6096000" cy="3782061"/>
          </a:xfrm>
          <a:prstGeom prst="rect">
            <a:avLst/>
          </a:prstGeom>
          <a:noFill/>
        </p:spPr>
        <p:txBody>
          <a:bodyPr wrap="square">
            <a:spAutoFit/>
          </a:bodyPr>
          <a:lstStyle/>
          <a:p>
            <a:pPr>
              <a:lnSpc>
                <a:spcPct val="150000"/>
              </a:lnSpc>
            </a:pPr>
            <a:r>
              <a:rPr lang="en-IN" b="0" i="0" dirty="0" err="1">
                <a:effectLst/>
                <a:latin typeface="Times New Roman" panose="02020603050405020304" pitchFamily="18" charset="0"/>
                <a:cs typeface="Times New Roman" panose="02020603050405020304" pitchFamily="18" charset="0"/>
              </a:rPr>
              <a:t>return_tensors</a:t>
            </a:r>
            <a:r>
              <a:rPr lang="en-IN" b="0" i="0" dirty="0">
                <a:effectLst/>
                <a:latin typeface="Times New Roman" panose="02020603050405020304" pitchFamily="18" charset="0"/>
                <a:cs typeface="Times New Roman" panose="02020603050405020304" pitchFamily="18" charset="0"/>
              </a:rPr>
              <a:t>="pt")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with </a:t>
            </a:r>
            <a:r>
              <a:rPr lang="en-IN" b="0" i="0" dirty="0" err="1">
                <a:effectLst/>
                <a:latin typeface="Times New Roman" panose="02020603050405020304" pitchFamily="18" charset="0"/>
                <a:cs typeface="Times New Roman" panose="02020603050405020304" pitchFamily="18" charset="0"/>
              </a:rPr>
              <a:t>torch.no_grad</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outputs = model(**inputs)</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embeddings = </a:t>
            </a:r>
            <a:r>
              <a:rPr lang="en-IN" b="0" i="0" dirty="0" err="1">
                <a:effectLst/>
                <a:latin typeface="Times New Roman" panose="02020603050405020304" pitchFamily="18" charset="0"/>
                <a:cs typeface="Times New Roman" panose="02020603050405020304" pitchFamily="18" charset="0"/>
              </a:rPr>
              <a:t>outputs.last_hidden_state.mean</a:t>
            </a:r>
            <a:r>
              <a:rPr lang="en-IN" b="0" i="0" dirty="0">
                <a:effectLst/>
                <a:latin typeface="Times New Roman" panose="02020603050405020304" pitchFamily="18" charset="0"/>
                <a:cs typeface="Times New Roman" panose="02020603050405020304" pitchFamily="18" charset="0"/>
              </a:rPr>
              <a:t>(dim=1)</a:t>
            </a:r>
            <a:br>
              <a:rPr lang="en-IN" dirty="0">
                <a:latin typeface="Times New Roman" panose="02020603050405020304" pitchFamily="18" charset="0"/>
                <a:cs typeface="Times New Roman" panose="02020603050405020304" pitchFamily="18" charset="0"/>
              </a:rPr>
            </a:br>
            <a:r>
              <a:rPr lang="en-IN" b="0" i="0" dirty="0" err="1">
                <a:effectLst/>
                <a:latin typeface="Times New Roman" panose="02020603050405020304" pitchFamily="18" charset="0"/>
                <a:cs typeface="Times New Roman" panose="02020603050405020304" pitchFamily="18" charset="0"/>
              </a:rPr>
              <a:t>all_embeddings.append</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embeddings.numpy</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return </a:t>
            </a:r>
            <a:r>
              <a:rPr lang="en-IN" b="0" i="0" dirty="0" err="1">
                <a:effectLst/>
                <a:latin typeface="Times New Roman" panose="02020603050405020304" pitchFamily="18" charset="0"/>
                <a:cs typeface="Times New Roman" panose="02020603050405020304" pitchFamily="18" charset="0"/>
              </a:rPr>
              <a:t>np.vstack</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all_embeddings</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X = </a:t>
            </a:r>
            <a:r>
              <a:rPr lang="en-IN" b="0" i="0" dirty="0" err="1">
                <a:effectLst/>
                <a:latin typeface="Times New Roman" panose="02020603050405020304" pitchFamily="18" charset="0"/>
                <a:cs typeface="Times New Roman" panose="02020603050405020304" pitchFamily="18" charset="0"/>
              </a:rPr>
              <a:t>electra_embeddings</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df</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clean_text</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tolist</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y = </a:t>
            </a:r>
            <a:r>
              <a:rPr lang="en-IN" b="0" i="0" dirty="0" err="1">
                <a:effectLst/>
                <a:latin typeface="Times New Roman" panose="02020603050405020304" pitchFamily="18" charset="0"/>
                <a:cs typeface="Times New Roman" panose="02020603050405020304" pitchFamily="18" charset="0"/>
              </a:rPr>
              <a:t>df</a:t>
            </a:r>
            <a:r>
              <a:rPr lang="en-IN" b="0" i="0" dirty="0">
                <a:effectLst/>
                <a:latin typeface="Times New Roman" panose="02020603050405020304" pitchFamily="18" charset="0"/>
                <a:cs typeface="Times New Roman" panose="02020603050405020304" pitchFamily="18" charset="0"/>
              </a:rPr>
              <a:t>["label"].values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120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CB82C5-206E-9F16-9FAB-042AE356C1DA}"/>
              </a:ext>
            </a:extLst>
          </p:cNvPr>
          <p:cNvSpPr txBox="1"/>
          <p:nvPr/>
        </p:nvSpPr>
        <p:spPr>
          <a:xfrm>
            <a:off x="751391" y="1624556"/>
            <a:ext cx="6096000" cy="3228063"/>
          </a:xfrm>
          <a:prstGeom prst="rect">
            <a:avLst/>
          </a:prstGeom>
          <a:noFill/>
        </p:spPr>
        <p:txBody>
          <a:bodyPr wrap="square">
            <a:spAutoFit/>
          </a:bodyPr>
          <a:lstStyle/>
          <a:p>
            <a:r>
              <a:rPr lang="en-IN" sz="2400" b="1" dirty="0">
                <a:effectLst/>
                <a:latin typeface="Times New Roman" panose="02020603050405020304" pitchFamily="18" charset="0"/>
                <a:cs typeface="Times New Roman" panose="02020603050405020304" pitchFamily="18" charset="0"/>
              </a:rPr>
              <a:t>6. Train-Test Split</a:t>
            </a:r>
          </a:p>
          <a:p>
            <a:pPr>
              <a:lnSpc>
                <a:spcPct val="150000"/>
              </a:lnSpc>
            </a:pPr>
            <a:r>
              <a:rPr lang="en-IN" b="0" i="0" dirty="0" err="1">
                <a:effectLst/>
                <a:latin typeface="Times New Roman" panose="02020603050405020304" pitchFamily="18" charset="0"/>
                <a:cs typeface="Times New Roman" panose="02020603050405020304" pitchFamily="18" charset="0"/>
              </a:rPr>
              <a:t>X_train</a:t>
            </a:r>
            <a:r>
              <a:rPr lang="en-IN" b="0" i="0" dirty="0">
                <a:effectLst/>
                <a:latin typeface="Times New Roman" panose="02020603050405020304" pitchFamily="18" charset="0"/>
                <a:cs typeface="Times New Roman" panose="02020603050405020304" pitchFamily="18" charset="0"/>
              </a:rPr>
              <a:t>, </a:t>
            </a:r>
            <a:r>
              <a:rPr lang="en-IN" b="0" i="0" dirty="0" err="1">
                <a:effectLst/>
                <a:latin typeface="Times New Roman" panose="02020603050405020304" pitchFamily="18" charset="0"/>
                <a:cs typeface="Times New Roman" panose="02020603050405020304" pitchFamily="18" charset="0"/>
              </a:rPr>
              <a:t>X_test</a:t>
            </a:r>
            <a:r>
              <a:rPr lang="en-IN" b="0" i="0" dirty="0">
                <a:effectLst/>
                <a:latin typeface="Times New Roman" panose="02020603050405020304" pitchFamily="18" charset="0"/>
                <a:cs typeface="Times New Roman" panose="02020603050405020304" pitchFamily="18" charset="0"/>
              </a:rPr>
              <a:t>, </a:t>
            </a:r>
            <a:r>
              <a:rPr lang="en-IN" b="0" i="0" dirty="0" err="1">
                <a:effectLst/>
                <a:latin typeface="Times New Roman" panose="02020603050405020304" pitchFamily="18" charset="0"/>
                <a:cs typeface="Times New Roman" panose="02020603050405020304" pitchFamily="18" charset="0"/>
              </a:rPr>
              <a:t>y_train</a:t>
            </a:r>
            <a:r>
              <a:rPr lang="en-IN" b="0" i="0" dirty="0">
                <a:effectLst/>
                <a:latin typeface="Times New Roman" panose="02020603050405020304" pitchFamily="18" charset="0"/>
                <a:cs typeface="Times New Roman" panose="02020603050405020304" pitchFamily="18" charset="0"/>
              </a:rPr>
              <a:t>, </a:t>
            </a:r>
            <a:r>
              <a:rPr lang="en-IN" b="0" i="0" dirty="0" err="1">
                <a:effectLst/>
                <a:latin typeface="Times New Roman" panose="02020603050405020304" pitchFamily="18" charset="0"/>
                <a:cs typeface="Times New Roman" panose="02020603050405020304" pitchFamily="18" charset="0"/>
              </a:rPr>
              <a:t>y_test</a:t>
            </a:r>
            <a:r>
              <a:rPr lang="en-IN" b="0" i="0" dirty="0">
                <a:effectLst/>
                <a:latin typeface="Times New Roman" panose="02020603050405020304" pitchFamily="18" charset="0"/>
                <a:cs typeface="Times New Roman" panose="02020603050405020304" pitchFamily="18" charset="0"/>
              </a:rPr>
              <a:t> = </a:t>
            </a:r>
            <a:r>
              <a:rPr lang="en-IN" b="0" i="0" dirty="0" err="1">
                <a:effectLst/>
                <a:latin typeface="Times New Roman" panose="02020603050405020304" pitchFamily="18" charset="0"/>
                <a:cs typeface="Times New Roman" panose="02020603050405020304" pitchFamily="18" charset="0"/>
              </a:rPr>
              <a:t>train_test_split</a:t>
            </a:r>
            <a:r>
              <a:rPr lang="en-IN" b="0" i="0" dirty="0">
                <a:effectLst/>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X, y, </a:t>
            </a:r>
            <a:r>
              <a:rPr lang="en-IN" b="0" i="0" dirty="0" err="1">
                <a:effectLst/>
                <a:latin typeface="Times New Roman" panose="02020603050405020304" pitchFamily="18" charset="0"/>
                <a:cs typeface="Times New Roman" panose="02020603050405020304" pitchFamily="18" charset="0"/>
              </a:rPr>
              <a:t>test_size</a:t>
            </a:r>
            <a:r>
              <a:rPr lang="en-IN" b="0" i="0" dirty="0">
                <a:effectLst/>
                <a:latin typeface="Times New Roman" panose="02020603050405020304" pitchFamily="18" charset="0"/>
                <a:cs typeface="Times New Roman" panose="02020603050405020304" pitchFamily="18" charset="0"/>
              </a:rPr>
              <a:t>=0.2, </a:t>
            </a:r>
            <a:r>
              <a:rPr lang="en-IN" b="0" i="0" dirty="0" err="1">
                <a:effectLst/>
                <a:latin typeface="Times New Roman" panose="02020603050405020304" pitchFamily="18" charset="0"/>
                <a:cs typeface="Times New Roman" panose="02020603050405020304" pitchFamily="18" charset="0"/>
              </a:rPr>
              <a:t>random_state</a:t>
            </a:r>
            <a:r>
              <a:rPr lang="en-IN" b="0" i="0" dirty="0">
                <a:effectLst/>
                <a:latin typeface="Times New Roman" panose="02020603050405020304" pitchFamily="18" charset="0"/>
                <a:cs typeface="Times New Roman" panose="02020603050405020304" pitchFamily="18" charset="0"/>
              </a:rPr>
              <a:t>=42, stratify=y)</a:t>
            </a:r>
          </a:p>
          <a:p>
            <a:br>
              <a:rPr lang="en-IN" sz="2400" b="1" i="1" dirty="0">
                <a:latin typeface="Times New Roman" panose="02020603050405020304" pitchFamily="18" charset="0"/>
                <a:cs typeface="Times New Roman" panose="02020603050405020304" pitchFamily="18" charset="0"/>
              </a:rPr>
            </a:br>
            <a:r>
              <a:rPr lang="en-IN" sz="2400" b="1" dirty="0">
                <a:effectLst/>
                <a:latin typeface="Times New Roman" panose="02020603050405020304" pitchFamily="18" charset="0"/>
                <a:cs typeface="Times New Roman" panose="02020603050405020304" pitchFamily="18" charset="0"/>
              </a:rPr>
              <a:t>7. Train Model</a:t>
            </a:r>
            <a:endParaRPr lang="en-IN" sz="2400" b="1" dirty="0">
              <a:latin typeface="Times New Roman" panose="02020603050405020304" pitchFamily="18" charset="0"/>
              <a:cs typeface="Times New Roman" panose="02020603050405020304" pitchFamily="18" charset="0"/>
            </a:endParaRPr>
          </a:p>
          <a:p>
            <a:pPr>
              <a:lnSpc>
                <a:spcPct val="150000"/>
              </a:lnSpc>
            </a:pPr>
            <a:r>
              <a:rPr lang="en-IN" b="0" i="0" dirty="0" err="1">
                <a:effectLst/>
                <a:latin typeface="Times New Roman" panose="02020603050405020304" pitchFamily="18" charset="0"/>
                <a:cs typeface="Times New Roman" panose="02020603050405020304" pitchFamily="18" charset="0"/>
              </a:rPr>
              <a:t>rf_model</a:t>
            </a:r>
            <a:r>
              <a:rPr lang="en-IN" b="0" i="0" dirty="0">
                <a:effectLst/>
                <a:latin typeface="Times New Roman" panose="02020603050405020304" pitchFamily="18" charset="0"/>
                <a:cs typeface="Times New Roman" panose="02020603050405020304" pitchFamily="18" charset="0"/>
              </a:rPr>
              <a:t> = </a:t>
            </a:r>
            <a:r>
              <a:rPr lang="en-IN" b="0" i="0" dirty="0" err="1">
                <a:effectLst/>
                <a:latin typeface="Times New Roman" panose="02020603050405020304" pitchFamily="18" charset="0"/>
                <a:cs typeface="Times New Roman" panose="02020603050405020304" pitchFamily="18" charset="0"/>
              </a:rPr>
              <a:t>RandomForestClassifier</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n_estimators</a:t>
            </a:r>
            <a:r>
              <a:rPr lang="en-IN" b="0" i="0" dirty="0">
                <a:effectLst/>
                <a:latin typeface="Times New Roman" panose="02020603050405020304" pitchFamily="18" charset="0"/>
                <a:cs typeface="Times New Roman" panose="02020603050405020304" pitchFamily="18" charset="0"/>
              </a:rPr>
              <a:t>=100, </a:t>
            </a:r>
            <a:r>
              <a:rPr lang="en-IN" b="0" i="0" dirty="0" err="1">
                <a:effectLst/>
                <a:latin typeface="Times New Roman" panose="02020603050405020304" pitchFamily="18" charset="0"/>
                <a:cs typeface="Times New Roman" panose="02020603050405020304" pitchFamily="18" charset="0"/>
              </a:rPr>
              <a:t>random_state</a:t>
            </a:r>
            <a:r>
              <a:rPr lang="en-IN" b="0" i="0" dirty="0">
                <a:effectLst/>
                <a:latin typeface="Times New Roman" panose="02020603050405020304" pitchFamily="18" charset="0"/>
                <a:cs typeface="Times New Roman" panose="02020603050405020304" pitchFamily="18" charset="0"/>
              </a:rPr>
              <a:t>=42)</a:t>
            </a:r>
            <a:br>
              <a:rPr lang="en-IN" dirty="0">
                <a:latin typeface="Times New Roman" panose="02020603050405020304" pitchFamily="18" charset="0"/>
                <a:cs typeface="Times New Roman" panose="02020603050405020304" pitchFamily="18" charset="0"/>
              </a:rPr>
            </a:br>
            <a:r>
              <a:rPr lang="en-IN" b="0" i="0" dirty="0" err="1">
                <a:effectLst/>
                <a:latin typeface="Times New Roman" panose="02020603050405020304" pitchFamily="18" charset="0"/>
                <a:cs typeface="Times New Roman" panose="02020603050405020304" pitchFamily="18" charset="0"/>
              </a:rPr>
              <a:t>rf_model.fit</a:t>
            </a:r>
            <a:r>
              <a:rPr lang="en-IN" b="0" i="0" dirty="0">
                <a:effectLst/>
                <a:latin typeface="Times New Roman" panose="02020603050405020304" pitchFamily="18" charset="0"/>
                <a:cs typeface="Times New Roman" panose="02020603050405020304" pitchFamily="18" charset="0"/>
              </a:rPr>
              <a:t>(</a:t>
            </a:r>
            <a:r>
              <a:rPr lang="en-IN" b="0" i="0" dirty="0" err="1">
                <a:effectLst/>
                <a:latin typeface="Times New Roman" panose="02020603050405020304" pitchFamily="18" charset="0"/>
                <a:cs typeface="Times New Roman" panose="02020603050405020304" pitchFamily="18" charset="0"/>
              </a:rPr>
              <a:t>X_train</a:t>
            </a:r>
            <a:r>
              <a:rPr lang="en-IN" b="0" i="0" dirty="0">
                <a:effectLst/>
                <a:latin typeface="Times New Roman" panose="02020603050405020304" pitchFamily="18" charset="0"/>
                <a:cs typeface="Times New Roman" panose="02020603050405020304" pitchFamily="18" charset="0"/>
              </a:rPr>
              <a:t>, </a:t>
            </a:r>
            <a:r>
              <a:rPr lang="en-IN" b="0" i="0" dirty="0" err="1">
                <a:effectLst/>
                <a:latin typeface="Times New Roman" panose="02020603050405020304" pitchFamily="18" charset="0"/>
                <a:cs typeface="Times New Roman" panose="02020603050405020304" pitchFamily="18" charset="0"/>
              </a:rPr>
              <a:t>y_train</a:t>
            </a:r>
            <a:r>
              <a:rPr lang="en-IN" b="0" i="0"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4" name="Picture 3" descr="A logo with a flower&#10;&#10;Description automatically generated">
            <a:extLst>
              <a:ext uri="{FF2B5EF4-FFF2-40B4-BE49-F238E27FC236}">
                <a16:creationId xmlns:a16="http://schemas.microsoft.com/office/drawing/2014/main" id="{D7710777-6316-8008-2DFD-5B9C35A4BCFB}"/>
              </a:ext>
            </a:extLst>
          </p:cNvPr>
          <p:cNvPicPr>
            <a:picLocks noChangeAspect="1"/>
          </p:cNvPicPr>
          <p:nvPr/>
        </p:nvPicPr>
        <p:blipFill>
          <a:blip r:embed="rId2"/>
          <a:stretch>
            <a:fillRect/>
          </a:stretch>
        </p:blipFill>
        <p:spPr>
          <a:xfrm>
            <a:off x="10427368" y="226906"/>
            <a:ext cx="1525679" cy="1322925"/>
          </a:xfrm>
          <a:prstGeom prst="rect">
            <a:avLst/>
          </a:prstGeom>
        </p:spPr>
      </p:pic>
      <p:sp>
        <p:nvSpPr>
          <p:cNvPr id="6" name="TextBox 5">
            <a:extLst>
              <a:ext uri="{FF2B5EF4-FFF2-40B4-BE49-F238E27FC236}">
                <a16:creationId xmlns:a16="http://schemas.microsoft.com/office/drawing/2014/main" id="{6E4214F5-A83E-AD35-77DD-C8BDA5A15849}"/>
              </a:ext>
            </a:extLst>
          </p:cNvPr>
          <p:cNvSpPr txBox="1"/>
          <p:nvPr/>
        </p:nvSpPr>
        <p:spPr>
          <a:xfrm>
            <a:off x="6966413" y="1549831"/>
            <a:ext cx="6096000" cy="3505062"/>
          </a:xfrm>
          <a:prstGeom prst="rect">
            <a:avLst/>
          </a:prstGeom>
          <a:noFill/>
        </p:spPr>
        <p:txBody>
          <a:bodyPr wrap="square">
            <a:spAutoFit/>
          </a:bodyPr>
          <a:lstStyle/>
          <a:p>
            <a:pPr>
              <a:lnSpc>
                <a:spcPct val="150000"/>
              </a:lnSpc>
            </a:pPr>
            <a:r>
              <a:rPr lang="en-US" sz="2400" b="1" dirty="0">
                <a:effectLst/>
                <a:latin typeface="Times New Roman" panose="02020603050405020304" pitchFamily="18" charset="0"/>
                <a:cs typeface="Times New Roman" panose="02020603050405020304" pitchFamily="18" charset="0"/>
              </a:rPr>
              <a:t>8. Evaluation</a:t>
            </a:r>
            <a:br>
              <a:rPr lang="en-US" dirty="0"/>
            </a:br>
            <a:r>
              <a:rPr lang="en-US" dirty="0"/>
              <a:t> </a:t>
            </a:r>
            <a:r>
              <a:rPr lang="en-US" b="0" i="0" dirty="0" err="1">
                <a:effectLst/>
                <a:latin typeface="Times New Roman" panose="02020603050405020304" pitchFamily="18" charset="0"/>
                <a:cs typeface="Times New Roman" panose="02020603050405020304" pitchFamily="18" charset="0"/>
              </a:rPr>
              <a:t>y_pred</a:t>
            </a:r>
            <a:r>
              <a:rPr lang="en-US" b="0" i="0" dirty="0">
                <a:effectLst/>
                <a:latin typeface="Times New Roman" panose="02020603050405020304" pitchFamily="18" charset="0"/>
                <a:cs typeface="Times New Roman" panose="02020603050405020304" pitchFamily="18" charset="0"/>
              </a:rPr>
              <a:t> = </a:t>
            </a:r>
            <a:r>
              <a:rPr lang="en-US" b="0" i="0" dirty="0" err="1">
                <a:effectLst/>
                <a:latin typeface="Times New Roman" panose="02020603050405020304" pitchFamily="18" charset="0"/>
                <a:cs typeface="Times New Roman" panose="02020603050405020304" pitchFamily="18" charset="0"/>
              </a:rPr>
              <a:t>rf_model.predict</a:t>
            </a:r>
            <a:r>
              <a:rPr lang="en-US" b="0" i="0" dirty="0">
                <a:effectLst/>
                <a:latin typeface="Times New Roman" panose="02020603050405020304" pitchFamily="18" charset="0"/>
                <a:cs typeface="Times New Roman" panose="02020603050405020304" pitchFamily="18" charset="0"/>
              </a:rPr>
              <a:t>(</a:t>
            </a:r>
            <a:r>
              <a:rPr lang="en-US" b="0" i="0" dirty="0" err="1">
                <a:effectLst/>
                <a:latin typeface="Times New Roman" panose="02020603050405020304" pitchFamily="18" charset="0"/>
                <a:cs typeface="Times New Roman" panose="02020603050405020304" pitchFamily="18" charset="0"/>
              </a:rPr>
              <a:t>X_test</a:t>
            </a:r>
            <a:r>
              <a:rPr lang="en-US" b="0" i="0" dirty="0">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accuracy = </a:t>
            </a:r>
            <a:r>
              <a:rPr lang="en-US" b="0" i="0" dirty="0" err="1">
                <a:effectLst/>
                <a:latin typeface="Times New Roman" panose="02020603050405020304" pitchFamily="18" charset="0"/>
                <a:cs typeface="Times New Roman" panose="02020603050405020304" pitchFamily="18" charset="0"/>
              </a:rPr>
              <a:t>accuracy_score</a:t>
            </a:r>
            <a:r>
              <a:rPr lang="en-US" b="0" i="0" dirty="0">
                <a:effectLst/>
                <a:latin typeface="Times New Roman" panose="02020603050405020304" pitchFamily="18" charset="0"/>
                <a:cs typeface="Times New Roman" panose="02020603050405020304" pitchFamily="18" charset="0"/>
              </a:rPr>
              <a:t>(</a:t>
            </a:r>
            <a:r>
              <a:rPr lang="en-US" b="0" i="0" dirty="0" err="1">
                <a:effectLst/>
                <a:latin typeface="Times New Roman" panose="02020603050405020304" pitchFamily="18" charset="0"/>
                <a:cs typeface="Times New Roman" panose="02020603050405020304" pitchFamily="18" charset="0"/>
              </a:rPr>
              <a:t>y_test</a:t>
            </a:r>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y_pred</a:t>
            </a:r>
            <a:r>
              <a:rPr lang="en-US" b="0" i="0" dirty="0">
                <a:effectLst/>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print("Accuracy:", accuracy)</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print("</a:t>
            </a:r>
            <a:r>
              <a:rPr lang="en-US" b="0" i="0" u="sng" dirty="0">
                <a:effectLst/>
                <a:latin typeface="Times New Roman" panose="02020603050405020304" pitchFamily="18" charset="0"/>
                <a:cs typeface="Times New Roman" panose="02020603050405020304" pitchFamily="18" charset="0"/>
              </a:rPr>
              <a:t>\</a:t>
            </a:r>
            <a:r>
              <a:rPr lang="en-US" b="0" i="0" u="sng" dirty="0" err="1">
                <a:effectLst/>
                <a:latin typeface="Times New Roman" panose="02020603050405020304" pitchFamily="18" charset="0"/>
                <a:cs typeface="Times New Roman" panose="02020603050405020304" pitchFamily="18" charset="0"/>
              </a:rPr>
              <a:t>n</a:t>
            </a:r>
            <a:r>
              <a:rPr lang="en-US" b="0" i="0" dirty="0" err="1">
                <a:effectLst/>
                <a:latin typeface="Times New Roman" panose="02020603050405020304" pitchFamily="18" charset="0"/>
                <a:cs typeface="Times New Roman" panose="02020603050405020304" pitchFamily="18" charset="0"/>
              </a:rPr>
              <a:t>Classification</a:t>
            </a:r>
            <a:r>
              <a:rPr lang="en-US" b="0" i="0" dirty="0">
                <a:effectLst/>
                <a:latin typeface="Times New Roman" panose="02020603050405020304" pitchFamily="18" charset="0"/>
                <a:cs typeface="Times New Roman" panose="02020603050405020304" pitchFamily="18" charset="0"/>
              </a:rPr>
              <a:t> Report:")</a:t>
            </a:r>
            <a:br>
              <a:rPr lang="en-US" dirty="0">
                <a:latin typeface="Times New Roman" panose="02020603050405020304" pitchFamily="18" charset="0"/>
                <a:cs typeface="Times New Roman" panose="02020603050405020304" pitchFamily="18" charset="0"/>
              </a:rPr>
            </a:br>
            <a:r>
              <a:rPr lang="en-US" b="0" i="0" dirty="0">
                <a:effectLst/>
                <a:latin typeface="Times New Roman" panose="02020603050405020304" pitchFamily="18" charset="0"/>
                <a:cs typeface="Times New Roman" panose="02020603050405020304" pitchFamily="18" charset="0"/>
              </a:rPr>
              <a:t>print(</a:t>
            </a:r>
            <a:r>
              <a:rPr lang="en-US" b="0" i="0" dirty="0" err="1">
                <a:effectLst/>
                <a:latin typeface="Times New Roman" panose="02020603050405020304" pitchFamily="18" charset="0"/>
                <a:cs typeface="Times New Roman" panose="02020603050405020304" pitchFamily="18" charset="0"/>
              </a:rPr>
              <a:t>classification_report</a:t>
            </a:r>
            <a:r>
              <a:rPr lang="en-US" b="0" i="0" dirty="0">
                <a:effectLst/>
                <a:latin typeface="Times New Roman" panose="02020603050405020304" pitchFamily="18" charset="0"/>
                <a:cs typeface="Times New Roman" panose="02020603050405020304" pitchFamily="18" charset="0"/>
              </a:rPr>
              <a:t>(</a:t>
            </a:r>
            <a:r>
              <a:rPr lang="en-US" b="0" i="0" dirty="0" err="1">
                <a:effectLst/>
                <a:latin typeface="Times New Roman" panose="02020603050405020304" pitchFamily="18" charset="0"/>
                <a:cs typeface="Times New Roman" panose="02020603050405020304" pitchFamily="18" charset="0"/>
              </a:rPr>
              <a:t>y_test</a:t>
            </a:r>
            <a:r>
              <a:rPr lang="en-US" b="0" i="0" dirty="0">
                <a:effectLst/>
                <a:latin typeface="Times New Roman" panose="02020603050405020304" pitchFamily="18" charset="0"/>
                <a:cs typeface="Times New Roman" panose="02020603050405020304" pitchFamily="18" charset="0"/>
              </a:rPr>
              <a:t>, </a:t>
            </a:r>
            <a:r>
              <a:rPr lang="en-US" b="0" i="0" dirty="0" err="1">
                <a:effectLst/>
                <a:latin typeface="Times New Roman" panose="02020603050405020304" pitchFamily="18" charset="0"/>
                <a:cs typeface="Times New Roman" panose="02020603050405020304" pitchFamily="18" charset="0"/>
              </a:rPr>
              <a:t>y_pred</a:t>
            </a:r>
            <a:r>
              <a:rPr lang="en-US" b="0" i="0" dirty="0">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098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ogo with a flower&#10;&#10;Description automatically generated">
            <a:extLst>
              <a:ext uri="{FF2B5EF4-FFF2-40B4-BE49-F238E27FC236}">
                <a16:creationId xmlns:a16="http://schemas.microsoft.com/office/drawing/2014/main" id="{C3136D22-5FAF-BFFD-28D3-A7CC3D8C8107}"/>
              </a:ext>
            </a:extLst>
          </p:cNvPr>
          <p:cNvPicPr>
            <a:picLocks noChangeAspect="1"/>
          </p:cNvPicPr>
          <p:nvPr/>
        </p:nvPicPr>
        <p:blipFill>
          <a:blip r:embed="rId2"/>
          <a:stretch>
            <a:fillRect/>
          </a:stretch>
        </p:blipFill>
        <p:spPr>
          <a:xfrm>
            <a:off x="10441733" y="369216"/>
            <a:ext cx="1525679" cy="1322925"/>
          </a:xfrm>
          <a:prstGeom prst="rect">
            <a:avLst/>
          </a:prstGeom>
        </p:spPr>
      </p:pic>
      <p:sp>
        <p:nvSpPr>
          <p:cNvPr id="5" name="TextBox 4">
            <a:extLst>
              <a:ext uri="{FF2B5EF4-FFF2-40B4-BE49-F238E27FC236}">
                <a16:creationId xmlns:a16="http://schemas.microsoft.com/office/drawing/2014/main" id="{1C9C6406-C261-9745-A776-E06731EF2E72}"/>
              </a:ext>
            </a:extLst>
          </p:cNvPr>
          <p:cNvSpPr txBox="1"/>
          <p:nvPr/>
        </p:nvSpPr>
        <p:spPr>
          <a:xfrm>
            <a:off x="550088" y="2083425"/>
            <a:ext cx="6481011" cy="3096360"/>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9. Prediction Function</a:t>
            </a:r>
            <a:br>
              <a:rPr lang="en-IN" dirty="0"/>
            </a:br>
            <a:r>
              <a:rPr lang="en-IN" dirty="0"/>
              <a:t> </a:t>
            </a:r>
            <a:r>
              <a:rPr lang="en-IN" dirty="0">
                <a:latin typeface="Times New Roman" panose="02020603050405020304" pitchFamily="18" charset="0"/>
                <a:cs typeface="Times New Roman" panose="02020603050405020304" pitchFamily="18" charset="0"/>
              </a:rPr>
              <a:t>def </a:t>
            </a:r>
            <a:r>
              <a:rPr lang="en-IN" dirty="0" err="1">
                <a:latin typeface="Times New Roman" panose="02020603050405020304" pitchFamily="18" charset="0"/>
                <a:cs typeface="Times New Roman" panose="02020603050405020304" pitchFamily="18" charset="0"/>
              </a:rPr>
              <a:t>predict_text</a:t>
            </a:r>
            <a:r>
              <a:rPr lang="en-IN" dirty="0">
                <a:latin typeface="Times New Roman" panose="02020603050405020304" pitchFamily="18" charset="0"/>
                <a:cs typeface="Times New Roman" panose="02020603050405020304" pitchFamily="18" charset="0"/>
              </a:rPr>
              <a:t>(text):</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text_clean</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clean_text</a:t>
            </a:r>
            <a:r>
              <a:rPr lang="en-IN" dirty="0">
                <a:latin typeface="Times New Roman" panose="02020603050405020304" pitchFamily="18" charset="0"/>
                <a:cs typeface="Times New Roman" panose="02020603050405020304" pitchFamily="18" charset="0"/>
              </a:rPr>
              <a:t>(text)</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emb</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electra_embeddings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text_clean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pred = </a:t>
            </a:r>
            <a:r>
              <a:rPr lang="en-IN" dirty="0" err="1">
                <a:latin typeface="Times New Roman" panose="02020603050405020304" pitchFamily="18" charset="0"/>
                <a:cs typeface="Times New Roman" panose="02020603050405020304" pitchFamily="18" charset="0"/>
              </a:rPr>
              <a:t>rf_model.predict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emb</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return </a:t>
            </a:r>
            <a:r>
              <a:rPr lang="en-IN" dirty="0" err="1">
                <a:latin typeface="Times New Roman" panose="02020603050405020304" pitchFamily="18" charset="0"/>
                <a:cs typeface="Times New Roman" panose="02020603050405020304" pitchFamily="18" charset="0"/>
              </a:rPr>
              <a:t>label_encoder.inverse_transform</a:t>
            </a:r>
            <a:r>
              <a:rPr lang="en-IN" dirty="0">
                <a:latin typeface="Times New Roman" panose="02020603050405020304" pitchFamily="18" charset="0"/>
                <a:cs typeface="Times New Roman" panose="02020603050405020304" pitchFamily="18" charset="0"/>
              </a:rPr>
              <a:t>(pred)[0]</a:t>
            </a:r>
            <a:br>
              <a:rPr lang="en-IN" dirty="0"/>
            </a:br>
            <a:endParaRPr lang="en-IN" dirty="0"/>
          </a:p>
        </p:txBody>
      </p:sp>
      <p:sp>
        <p:nvSpPr>
          <p:cNvPr id="7" name="TextBox 6">
            <a:extLst>
              <a:ext uri="{FF2B5EF4-FFF2-40B4-BE49-F238E27FC236}">
                <a16:creationId xmlns:a16="http://schemas.microsoft.com/office/drawing/2014/main" id="{9AD3F89D-C53F-08A4-F91A-77B66DAC71B8}"/>
              </a:ext>
            </a:extLst>
          </p:cNvPr>
          <p:cNvSpPr txBox="1"/>
          <p:nvPr/>
        </p:nvSpPr>
        <p:spPr>
          <a:xfrm>
            <a:off x="5969735" y="2091967"/>
            <a:ext cx="6096000" cy="2674065"/>
          </a:xfrm>
          <a:prstGeom prst="rect">
            <a:avLst/>
          </a:prstGeom>
          <a:noFill/>
        </p:spPr>
        <p:txBody>
          <a:bodyPr wrap="square">
            <a:spAutoFit/>
          </a:bodyPr>
          <a:lstStyle/>
          <a:p>
            <a:pPr rtl="0">
              <a:lnSpc>
                <a:spcPct val="150000"/>
              </a:lnSpc>
              <a:buNone/>
            </a:pPr>
            <a:r>
              <a:rPr lang="en-US" sz="2400" b="1" dirty="0">
                <a:latin typeface="Times New Roman" panose="02020603050405020304" pitchFamily="18" charset="0"/>
                <a:cs typeface="Times New Roman" panose="02020603050405020304" pitchFamily="18" charset="0"/>
              </a:rPr>
              <a:t>10. Test Prediction</a:t>
            </a:r>
            <a:br>
              <a:rPr lang="en-US" sz="2400" b="1"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sample_text</a:t>
            </a:r>
            <a:r>
              <a:rPr lang="en-US" dirty="0">
                <a:latin typeface="Times New Roman" panose="02020603050405020304" pitchFamily="18" charset="0"/>
                <a:cs typeface="Times New Roman" panose="02020603050405020304" pitchFamily="18" charset="0"/>
              </a:rPr>
              <a:t> = "Patient has chest pain and shortness of breath"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prediction = </a:t>
            </a:r>
            <a:r>
              <a:rPr lang="en-US" dirty="0" err="1">
                <a:latin typeface="Times New Roman" panose="02020603050405020304" pitchFamily="18" charset="0"/>
                <a:cs typeface="Times New Roman" panose="02020603050405020304" pitchFamily="18" charset="0"/>
              </a:rPr>
              <a:t>predict_text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sample_text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nSample</a:t>
            </a:r>
            <a:r>
              <a:rPr lang="en-US" dirty="0">
                <a:latin typeface="Times New Roman" panose="02020603050405020304" pitchFamily="18" charset="0"/>
                <a:cs typeface="Times New Roman" panose="02020603050405020304" pitchFamily="18" charset="0"/>
              </a:rPr>
              <a:t> Input:", </a:t>
            </a:r>
            <a:r>
              <a:rPr lang="en-US" dirty="0" err="1">
                <a:latin typeface="Times New Roman" panose="02020603050405020304" pitchFamily="18" charset="0"/>
                <a:cs typeface="Times New Roman" panose="02020603050405020304" pitchFamily="18" charset="0"/>
              </a:rPr>
              <a:t>sample_text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print("Predicted Medical Specialty:", prediction)</a:t>
            </a:r>
          </a:p>
        </p:txBody>
      </p:sp>
    </p:spTree>
    <p:extLst>
      <p:ext uri="{BB962C8B-B14F-4D97-AF65-F5344CB8AC3E}">
        <p14:creationId xmlns:p14="http://schemas.microsoft.com/office/powerpoint/2010/main" val="3475228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2013B7AF-5FCC-1215-AD0B-BF41C7EC9CF8}"/>
              </a:ext>
            </a:extLst>
          </p:cNvPr>
          <p:cNvSpPr txBox="1"/>
          <p:nvPr/>
        </p:nvSpPr>
        <p:spPr>
          <a:xfrm>
            <a:off x="3169332" y="1121946"/>
            <a:ext cx="5339984" cy="973576"/>
          </a:xfrm>
          <a:prstGeom prst="rect">
            <a:avLst/>
          </a:prstGeom>
          <a:solidFill>
            <a:schemeClr val="tx2">
              <a:lumMod val="20000"/>
              <a:lumOff val="80000"/>
            </a:schemeClr>
          </a:solidFill>
        </p:spPr>
        <p:txBody>
          <a:bodyPr lIns="33867" tIns="33867" rIns="33867" bIns="33867" rtlCol="0" anchor="ctr"/>
          <a:lstStyle/>
          <a:p>
            <a:pPr algn="ctr">
              <a:lnSpc>
                <a:spcPts val="1775"/>
              </a:lnSpc>
              <a:spcBef>
                <a:spcPct val="0"/>
              </a:spcBef>
            </a:pPr>
            <a:r>
              <a:rPr lang="en-IN" sz="3200" dirty="0">
                <a:latin typeface="Times New Roman" panose="02020603050405020304" pitchFamily="18" charset="0"/>
                <a:cs typeface="Times New Roman" panose="02020603050405020304" pitchFamily="18" charset="0"/>
              </a:rPr>
              <a:t>RESULTS</a:t>
            </a:r>
            <a:endParaRPr sz="3200" dirty="0">
              <a:latin typeface="Times New Roman" panose="02020603050405020304" pitchFamily="18" charset="0"/>
              <a:cs typeface="Times New Roman" panose="02020603050405020304" pitchFamily="18" charset="0"/>
            </a:endParaRPr>
          </a:p>
        </p:txBody>
      </p:sp>
      <p:pic>
        <p:nvPicPr>
          <p:cNvPr id="5" name="Picture 4" descr="A logo with a flower&#10;&#10;Description automatically generated">
            <a:extLst>
              <a:ext uri="{FF2B5EF4-FFF2-40B4-BE49-F238E27FC236}">
                <a16:creationId xmlns:a16="http://schemas.microsoft.com/office/drawing/2014/main" id="{DFC0409C-1436-65CD-9107-FFC216E1F8DB}"/>
              </a:ext>
            </a:extLst>
          </p:cNvPr>
          <p:cNvPicPr>
            <a:picLocks noChangeAspect="1"/>
          </p:cNvPicPr>
          <p:nvPr/>
        </p:nvPicPr>
        <p:blipFill>
          <a:blip r:embed="rId2"/>
          <a:stretch>
            <a:fillRect/>
          </a:stretch>
        </p:blipFill>
        <p:spPr>
          <a:xfrm>
            <a:off x="9986149" y="620197"/>
            <a:ext cx="1525679" cy="1322925"/>
          </a:xfrm>
          <a:prstGeom prst="rect">
            <a:avLst/>
          </a:prstGeom>
        </p:spPr>
      </p:pic>
      <p:pic>
        <p:nvPicPr>
          <p:cNvPr id="7" name="Picture 6">
            <a:extLst>
              <a:ext uri="{FF2B5EF4-FFF2-40B4-BE49-F238E27FC236}">
                <a16:creationId xmlns:a16="http://schemas.microsoft.com/office/drawing/2014/main" id="{137807C9-8F54-88C3-EF92-4EC65F9D410E}"/>
              </a:ext>
            </a:extLst>
          </p:cNvPr>
          <p:cNvPicPr>
            <a:picLocks noChangeAspect="1"/>
          </p:cNvPicPr>
          <p:nvPr/>
        </p:nvPicPr>
        <p:blipFill>
          <a:blip r:embed="rId3" cstate="print"/>
          <a:srcRect/>
          <a:stretch>
            <a:fillRect/>
          </a:stretch>
        </p:blipFill>
        <p:spPr bwMode="auto">
          <a:xfrm>
            <a:off x="531911" y="2976795"/>
            <a:ext cx="5465766" cy="3375877"/>
          </a:xfrm>
          <a:prstGeom prst="rect">
            <a:avLst/>
          </a:prstGeom>
          <a:noFill/>
          <a:ln w="9525">
            <a:noFill/>
            <a:miter lim="800000"/>
            <a:headEnd/>
            <a:tailEnd/>
          </a:ln>
        </p:spPr>
      </p:pic>
      <p:pic>
        <p:nvPicPr>
          <p:cNvPr id="8" name="Picture 7">
            <a:extLst>
              <a:ext uri="{FF2B5EF4-FFF2-40B4-BE49-F238E27FC236}">
                <a16:creationId xmlns:a16="http://schemas.microsoft.com/office/drawing/2014/main" id="{A5C4D4BB-84BE-9C5C-CF04-9C9463B7B817}"/>
              </a:ext>
            </a:extLst>
          </p:cNvPr>
          <p:cNvPicPr>
            <a:picLocks noChangeAspect="1"/>
          </p:cNvPicPr>
          <p:nvPr/>
        </p:nvPicPr>
        <p:blipFill>
          <a:blip r:embed="rId4" cstate="print"/>
          <a:srcRect/>
          <a:stretch>
            <a:fillRect/>
          </a:stretch>
        </p:blipFill>
        <p:spPr bwMode="auto">
          <a:xfrm>
            <a:off x="6096001" y="2957131"/>
            <a:ext cx="5775158" cy="3375878"/>
          </a:xfrm>
          <a:prstGeom prst="rect">
            <a:avLst/>
          </a:prstGeom>
          <a:noFill/>
          <a:ln w="9525">
            <a:noFill/>
            <a:miter lim="800000"/>
            <a:headEnd/>
            <a:tailEnd/>
          </a:ln>
        </p:spPr>
      </p:pic>
      <p:sp>
        <p:nvSpPr>
          <p:cNvPr id="9" name="TextBox 8">
            <a:extLst>
              <a:ext uri="{FF2B5EF4-FFF2-40B4-BE49-F238E27FC236}">
                <a16:creationId xmlns:a16="http://schemas.microsoft.com/office/drawing/2014/main" id="{83EC0224-DB2F-2044-B592-D46DC58CBE62}"/>
              </a:ext>
            </a:extLst>
          </p:cNvPr>
          <p:cNvSpPr txBox="1"/>
          <p:nvPr/>
        </p:nvSpPr>
        <p:spPr>
          <a:xfrm>
            <a:off x="1317523" y="2412068"/>
            <a:ext cx="5132438"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Home page of Clinical NLP Trails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3A6B26F-4A41-7930-555B-BBCB6BAC96C0}"/>
              </a:ext>
            </a:extLst>
          </p:cNvPr>
          <p:cNvSpPr txBox="1"/>
          <p:nvPr/>
        </p:nvSpPr>
        <p:spPr>
          <a:xfrm>
            <a:off x="7016808" y="2412068"/>
            <a:ext cx="513243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Sign up page of Clinical NLP Trails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120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ogo with a flower&#10;&#10;Description automatically generated">
            <a:extLst>
              <a:ext uri="{FF2B5EF4-FFF2-40B4-BE49-F238E27FC236}">
                <a16:creationId xmlns:a16="http://schemas.microsoft.com/office/drawing/2014/main" id="{7279623F-989C-7651-27FE-E5B5B997498E}"/>
              </a:ext>
            </a:extLst>
          </p:cNvPr>
          <p:cNvPicPr>
            <a:picLocks noChangeAspect="1"/>
          </p:cNvPicPr>
          <p:nvPr/>
        </p:nvPicPr>
        <p:blipFill>
          <a:blip r:embed="rId2"/>
          <a:stretch>
            <a:fillRect/>
          </a:stretch>
        </p:blipFill>
        <p:spPr>
          <a:xfrm>
            <a:off x="10300561" y="467797"/>
            <a:ext cx="1525679" cy="1322925"/>
          </a:xfrm>
          <a:prstGeom prst="rect">
            <a:avLst/>
          </a:prstGeom>
        </p:spPr>
      </p:pic>
      <p:pic>
        <p:nvPicPr>
          <p:cNvPr id="3" name="Picture 2">
            <a:extLst>
              <a:ext uri="{FF2B5EF4-FFF2-40B4-BE49-F238E27FC236}">
                <a16:creationId xmlns:a16="http://schemas.microsoft.com/office/drawing/2014/main" id="{4127EA3C-F1F2-65EF-4E1D-8F1CE42DD708}"/>
              </a:ext>
            </a:extLst>
          </p:cNvPr>
          <p:cNvPicPr>
            <a:picLocks noChangeAspect="1"/>
          </p:cNvPicPr>
          <p:nvPr/>
        </p:nvPicPr>
        <p:blipFill>
          <a:blip r:embed="rId3" cstate="print"/>
          <a:srcRect/>
          <a:stretch>
            <a:fillRect/>
          </a:stretch>
        </p:blipFill>
        <p:spPr bwMode="auto">
          <a:xfrm>
            <a:off x="444419" y="2263617"/>
            <a:ext cx="5730240" cy="3213469"/>
          </a:xfrm>
          <a:prstGeom prst="rect">
            <a:avLst/>
          </a:prstGeom>
          <a:noFill/>
          <a:ln w="9525">
            <a:noFill/>
            <a:miter lim="800000"/>
            <a:headEnd/>
            <a:tailEnd/>
          </a:ln>
        </p:spPr>
      </p:pic>
      <p:pic>
        <p:nvPicPr>
          <p:cNvPr id="4" name="Picture 3">
            <a:extLst>
              <a:ext uri="{FF2B5EF4-FFF2-40B4-BE49-F238E27FC236}">
                <a16:creationId xmlns:a16="http://schemas.microsoft.com/office/drawing/2014/main" id="{72D9797F-B37A-028A-8012-8DA611E15B3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2131" y="2263617"/>
            <a:ext cx="5434109" cy="3213469"/>
          </a:xfrm>
          <a:prstGeom prst="rect">
            <a:avLst/>
          </a:prstGeom>
          <a:noFill/>
          <a:ln>
            <a:noFill/>
          </a:ln>
        </p:spPr>
      </p:pic>
      <p:sp>
        <p:nvSpPr>
          <p:cNvPr id="6" name="TextBox 5">
            <a:extLst>
              <a:ext uri="{FF2B5EF4-FFF2-40B4-BE49-F238E27FC236}">
                <a16:creationId xmlns:a16="http://schemas.microsoft.com/office/drawing/2014/main" id="{5CD282FD-D304-3909-BBDC-7C81A369BAD7}"/>
              </a:ext>
            </a:extLst>
          </p:cNvPr>
          <p:cNvSpPr txBox="1"/>
          <p:nvPr/>
        </p:nvSpPr>
        <p:spPr>
          <a:xfrm>
            <a:off x="250721" y="1676080"/>
            <a:ext cx="6096000" cy="464871"/>
          </a:xfrm>
          <a:prstGeom prst="rect">
            <a:avLst/>
          </a:prstGeom>
          <a:noFill/>
        </p:spPr>
        <p:txBody>
          <a:bodyPr wrap="square">
            <a:spAutoFit/>
          </a:bodyPr>
          <a:lstStyle/>
          <a:p>
            <a:pPr algn="ctr">
              <a:lnSpc>
                <a:spcPct val="150000"/>
              </a:lnSpc>
            </a:pPr>
            <a:r>
              <a:rPr lang="en-IN" b="1" dirty="0">
                <a:latin typeface="Times New Roman" panose="02020603050405020304" pitchFamily="18" charset="0"/>
                <a:cs typeface="Times New Roman" panose="02020603050405020304" pitchFamily="18" charset="0"/>
              </a:rPr>
              <a:t>User login page of Clinical NLP Trails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CB8DDE9-CCA2-7B48-6CD4-90F677E753FF}"/>
              </a:ext>
            </a:extLst>
          </p:cNvPr>
          <p:cNvSpPr txBox="1"/>
          <p:nvPr/>
        </p:nvSpPr>
        <p:spPr>
          <a:xfrm>
            <a:off x="5845279" y="1677554"/>
            <a:ext cx="6096000" cy="463397"/>
          </a:xfrm>
          <a:prstGeom prst="rect">
            <a:avLst/>
          </a:prstGeom>
          <a:noFill/>
        </p:spPr>
        <p:txBody>
          <a:bodyPr wrap="square">
            <a:spAutoFit/>
          </a:bodyPr>
          <a:lstStyle/>
          <a:p>
            <a:pPr algn="ctr">
              <a:lnSpc>
                <a:spcPct val="150000"/>
              </a:lnSpc>
            </a:pPr>
            <a:r>
              <a:rPr lang="en-IN" b="1" dirty="0">
                <a:latin typeface="Times New Roman" panose="02020603050405020304" pitchFamily="18" charset="0"/>
                <a:cs typeface="Times New Roman" panose="02020603050405020304" pitchFamily="18" charset="0"/>
              </a:rPr>
              <a:t>Real time predictions of Clinical NLP Trails</a:t>
            </a:r>
          </a:p>
        </p:txBody>
      </p:sp>
    </p:spTree>
    <p:extLst>
      <p:ext uri="{BB962C8B-B14F-4D97-AF65-F5344CB8AC3E}">
        <p14:creationId xmlns:p14="http://schemas.microsoft.com/office/powerpoint/2010/main" val="1254155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2D8E2E8A-7243-2A29-7803-43DA7C237E1C}"/>
              </a:ext>
            </a:extLst>
          </p:cNvPr>
          <p:cNvSpPr txBox="1"/>
          <p:nvPr/>
        </p:nvSpPr>
        <p:spPr>
          <a:xfrm>
            <a:off x="2916160" y="521874"/>
            <a:ext cx="6359679" cy="973576"/>
          </a:xfrm>
          <a:prstGeom prst="rect">
            <a:avLst/>
          </a:prstGeom>
          <a:solidFill>
            <a:schemeClr val="tx2">
              <a:lumMod val="20000"/>
              <a:lumOff val="80000"/>
            </a:schemeClr>
          </a:solidFill>
        </p:spPr>
        <p:txBody>
          <a:bodyPr lIns="33867" tIns="33867" rIns="33867" bIns="33867" rtlCol="0" anchor="ctr"/>
          <a:lstStyle/>
          <a:p>
            <a:pPr algn="ctr">
              <a:lnSpc>
                <a:spcPts val="1775"/>
              </a:lnSpc>
              <a:spcBef>
                <a:spcPct val="0"/>
              </a:spcBef>
            </a:pPr>
            <a:r>
              <a:rPr lang="en-IN" sz="3200" dirty="0">
                <a:latin typeface="Times New Roman" panose="02020603050405020304" pitchFamily="18" charset="0"/>
                <a:cs typeface="Times New Roman" panose="02020603050405020304" pitchFamily="18" charset="0"/>
              </a:rPr>
              <a:t>Conclusion &amp; Future Enhancement</a:t>
            </a:r>
          </a:p>
          <a:p>
            <a:pPr algn="ctr">
              <a:lnSpc>
                <a:spcPts val="1775"/>
              </a:lnSpc>
              <a:spcBef>
                <a:spcPct val="0"/>
              </a:spcBef>
            </a:pPr>
            <a:endParaRPr sz="3200" dirty="0">
              <a:latin typeface="Times New Roman" panose="02020603050405020304" pitchFamily="18" charset="0"/>
              <a:cs typeface="Times New Roman" panose="02020603050405020304" pitchFamily="18" charset="0"/>
            </a:endParaRPr>
          </a:p>
        </p:txBody>
      </p:sp>
      <p:pic>
        <p:nvPicPr>
          <p:cNvPr id="3" name="Picture 2" descr="A logo with a flower&#10;&#10;Description automatically generated">
            <a:extLst>
              <a:ext uri="{FF2B5EF4-FFF2-40B4-BE49-F238E27FC236}">
                <a16:creationId xmlns:a16="http://schemas.microsoft.com/office/drawing/2014/main" id="{830E459C-9F0F-9806-FDDC-C88E012B595C}"/>
              </a:ext>
            </a:extLst>
          </p:cNvPr>
          <p:cNvPicPr>
            <a:picLocks noChangeAspect="1"/>
          </p:cNvPicPr>
          <p:nvPr/>
        </p:nvPicPr>
        <p:blipFill>
          <a:blip r:embed="rId2"/>
          <a:stretch>
            <a:fillRect/>
          </a:stretch>
        </p:blipFill>
        <p:spPr>
          <a:xfrm>
            <a:off x="10158214" y="521874"/>
            <a:ext cx="1525679" cy="1322925"/>
          </a:xfrm>
          <a:prstGeom prst="rect">
            <a:avLst/>
          </a:prstGeom>
        </p:spPr>
      </p:pic>
      <p:sp>
        <p:nvSpPr>
          <p:cNvPr id="5" name="TextBox 4">
            <a:extLst>
              <a:ext uri="{FF2B5EF4-FFF2-40B4-BE49-F238E27FC236}">
                <a16:creationId xmlns:a16="http://schemas.microsoft.com/office/drawing/2014/main" id="{DC855A0F-EA4B-5D7D-5FFB-7B0CD409CE9D}"/>
              </a:ext>
            </a:extLst>
          </p:cNvPr>
          <p:cNvSpPr txBox="1"/>
          <p:nvPr/>
        </p:nvSpPr>
        <p:spPr>
          <a:xfrm>
            <a:off x="1088795" y="1844799"/>
            <a:ext cx="9753600" cy="493981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presents a robust and intelligent framework for clinical text classification. It leverages ELECTRA-based word embeddings and ensemble learning techniques to accurately predict medical specialties from unstructured </a:t>
            </a:r>
            <a:r>
              <a:rPr lang="en-US" dirty="0" err="1">
                <a:latin typeface="Times New Roman" panose="02020603050405020304" pitchFamily="18" charset="0"/>
                <a:cs typeface="Times New Roman" panose="02020603050405020304" pitchFamily="18" charset="0"/>
              </a:rPr>
              <a:t>MTSamples</a:t>
            </a:r>
            <a:r>
              <a:rPr lang="en-US" dirty="0">
                <a:latin typeface="Times New Roman" panose="02020603050405020304" pitchFamily="18" charset="0"/>
                <a:cs typeface="Times New Roman" panose="02020603050405020304" pitchFamily="18" charset="0"/>
              </a:rPr>
              <a:t> reports.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Additionally, the application of SMOTE addresses class imbalance and ensures fair representation of minority classes.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ETC model significantly outperformed other classifiers such as AdaBoost (13.9%), </a:t>
            </a:r>
            <a:r>
              <a:rPr lang="en-US" dirty="0" err="1">
                <a:latin typeface="Times New Roman" panose="02020603050405020304" pitchFamily="18" charset="0"/>
                <a:cs typeface="Times New Roman" panose="02020603050405020304" pitchFamily="18" charset="0"/>
              </a:rPr>
              <a:t>TaoTree</a:t>
            </a:r>
            <a:r>
              <a:rPr lang="en-US" dirty="0">
                <a:latin typeface="Times New Roman" panose="02020603050405020304" pitchFamily="18" charset="0"/>
                <a:cs typeface="Times New Roman" panose="02020603050405020304" pitchFamily="18" charset="0"/>
              </a:rPr>
              <a:t> (20.1%), and Random Forest (86.3%).</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framework demonstrates high generalizability, reproducibility, and practical applicability.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a strong foundation for automated medical specialty prediction in real-world clinical transcription systems.</a:t>
            </a:r>
          </a:p>
          <a:p>
            <a:pPr algn="l">
              <a:buNone/>
            </a:pPr>
            <a:endParaRPr lang="en-US" b="0" i="0" dirty="0">
              <a:solidFill>
                <a:srgbClr val="0D0D0D"/>
              </a:solidFill>
              <a:effectLst/>
              <a:latin typeface="ui-sans-serif"/>
            </a:endParaRPr>
          </a:p>
        </p:txBody>
      </p:sp>
    </p:spTree>
    <p:extLst>
      <p:ext uri="{BB962C8B-B14F-4D97-AF65-F5344CB8AC3E}">
        <p14:creationId xmlns:p14="http://schemas.microsoft.com/office/powerpoint/2010/main" val="1793959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E55A7F8-3FA5-7A32-EBC1-F17C509639B5}"/>
              </a:ext>
            </a:extLst>
          </p:cNvPr>
          <p:cNvSpPr txBox="1"/>
          <p:nvPr/>
        </p:nvSpPr>
        <p:spPr>
          <a:xfrm>
            <a:off x="2916160" y="1121946"/>
            <a:ext cx="6359679" cy="973576"/>
          </a:xfrm>
          <a:prstGeom prst="rect">
            <a:avLst/>
          </a:prstGeom>
          <a:solidFill>
            <a:schemeClr val="tx2">
              <a:lumMod val="20000"/>
              <a:lumOff val="80000"/>
            </a:schemeClr>
          </a:solidFill>
        </p:spPr>
        <p:txBody>
          <a:bodyPr lIns="33867" tIns="33867" rIns="33867" bIns="33867" rtlCol="0" anchor="ctr"/>
          <a:lstStyle/>
          <a:p>
            <a:pPr marL="194945" lvl="1" algn="ctr">
              <a:lnSpc>
                <a:spcPct val="150000"/>
              </a:lnSpc>
            </a:pPr>
            <a:r>
              <a:rPr lang="en-IN" sz="3600" dirty="0">
                <a:latin typeface="Times New Roman" panose="02020603050405020304" pitchFamily="18" charset="0"/>
                <a:cs typeface="Times New Roman" panose="02020603050405020304" pitchFamily="18" charset="0"/>
              </a:rPr>
              <a:t> REFERENCES</a:t>
            </a:r>
          </a:p>
        </p:txBody>
      </p:sp>
      <p:sp>
        <p:nvSpPr>
          <p:cNvPr id="12" name="TextBox 11">
            <a:extLst>
              <a:ext uri="{FF2B5EF4-FFF2-40B4-BE49-F238E27FC236}">
                <a16:creationId xmlns:a16="http://schemas.microsoft.com/office/drawing/2014/main" id="{8B64BAA1-AE4D-4465-BEBC-0832D091209F}"/>
              </a:ext>
            </a:extLst>
          </p:cNvPr>
          <p:cNvSpPr txBox="1"/>
          <p:nvPr/>
        </p:nvSpPr>
        <p:spPr>
          <a:xfrm>
            <a:off x="1035492" y="2541983"/>
            <a:ext cx="9865896" cy="3366563"/>
          </a:xfrm>
          <a:prstGeom prst="rect">
            <a:avLst/>
          </a:prstGeom>
          <a:noFill/>
        </p:spPr>
        <p:txBody>
          <a:bodyPr wrap="square">
            <a:spAutoFit/>
          </a:bodyPr>
          <a:lstStyle/>
          <a:p>
            <a:pPr marL="342900" lvl="0" indent="-342900" algn="just">
              <a:lnSpc>
                <a:spcPct val="150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M. Wang, Z. Wei, M. Jia and L. Chen, “Deep Learning Model for Multi-Classification of Infectious Diseases from Unstructured Electronic Medical Records,” </a:t>
            </a:r>
            <a:r>
              <a:rPr lang="en-IN" sz="1800" i="1" dirty="0">
                <a:solidFill>
                  <a:srgbClr val="000000"/>
                </a:solidFill>
                <a:effectLst/>
                <a:latin typeface="Times New Roman" panose="02020603050405020304" pitchFamily="18" charset="0"/>
                <a:ea typeface="Times New Roman" panose="02020603050405020304" pitchFamily="18" charset="0"/>
              </a:rPr>
              <a:t>BMC Medical Informatics and Decision Making</a:t>
            </a:r>
            <a:r>
              <a:rPr lang="en-IN" sz="1800" dirty="0">
                <a:solidFill>
                  <a:srgbClr val="000000"/>
                </a:solidFill>
                <a:effectLst/>
                <a:latin typeface="Times New Roman" panose="02020603050405020304" pitchFamily="18" charset="0"/>
                <a:ea typeface="Times New Roman" panose="02020603050405020304" pitchFamily="18" charset="0"/>
              </a:rPr>
              <a:t>, vol. 22, no. 1, pp. 1–12, 2022, </a:t>
            </a:r>
            <a:r>
              <a:rPr lang="en-IN" sz="1800" dirty="0" err="1">
                <a:solidFill>
                  <a:srgbClr val="000000"/>
                </a:solidFill>
                <a:effectLst/>
                <a:latin typeface="Times New Roman" panose="02020603050405020304" pitchFamily="18" charset="0"/>
                <a:ea typeface="Times New Roman" panose="02020603050405020304" pitchFamily="18" charset="0"/>
              </a:rPr>
              <a:t>doi</a:t>
            </a:r>
            <a:r>
              <a:rPr lang="en-IN" sz="1800" dirty="0">
                <a:solidFill>
                  <a:srgbClr val="000000"/>
                </a:solidFill>
                <a:effectLst/>
                <a:latin typeface="Times New Roman" panose="02020603050405020304" pitchFamily="18" charset="0"/>
                <a:ea typeface="Times New Roman" panose="02020603050405020304" pitchFamily="18" charset="0"/>
              </a:rPr>
              <a:t>: 10.1186/s12911-022-01776-y.</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S. Kumar, R. Patel and A. Sharma, “Natural Language Processing for Infectious Disease Detection: A Systematic Review,” </a:t>
            </a:r>
            <a:r>
              <a:rPr lang="en-IN" sz="1800" i="1" dirty="0">
                <a:solidFill>
                  <a:srgbClr val="000000"/>
                </a:solidFill>
                <a:effectLst/>
                <a:latin typeface="Times New Roman" panose="02020603050405020304" pitchFamily="18" charset="0"/>
                <a:ea typeface="Times New Roman" panose="02020603050405020304" pitchFamily="18" charset="0"/>
              </a:rPr>
              <a:t>American Journal of Infection Control</a:t>
            </a:r>
            <a:r>
              <a:rPr lang="en-IN" sz="1800" dirty="0">
                <a:solidFill>
                  <a:srgbClr val="000000"/>
                </a:solidFill>
                <a:effectLst/>
                <a:latin typeface="Times New Roman" panose="02020603050405020304" pitchFamily="18" charset="0"/>
                <a:ea typeface="Times New Roman" panose="02020603050405020304" pitchFamily="18" charset="0"/>
              </a:rPr>
              <a:t>, vol. 52, no. 4, pp. 456–465, 2024, </a:t>
            </a:r>
            <a:r>
              <a:rPr lang="en-IN" sz="1800" dirty="0" err="1">
                <a:solidFill>
                  <a:srgbClr val="000000"/>
                </a:solidFill>
                <a:effectLst/>
                <a:latin typeface="Times New Roman" panose="02020603050405020304" pitchFamily="18" charset="0"/>
                <a:ea typeface="Times New Roman" panose="02020603050405020304" pitchFamily="18" charset="0"/>
              </a:rPr>
              <a:t>doi</a:t>
            </a:r>
            <a:r>
              <a:rPr lang="en-IN" sz="1800" dirty="0">
                <a:solidFill>
                  <a:srgbClr val="000000"/>
                </a:solidFill>
                <a:effectLst/>
                <a:latin typeface="Times New Roman" panose="02020603050405020304" pitchFamily="18" charset="0"/>
                <a:ea typeface="Times New Roman" panose="02020603050405020304" pitchFamily="18" charset="0"/>
              </a:rPr>
              <a:t>: 10.1016/j.ajic.2024.01.015.</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pPr>
            <a:r>
              <a:rPr lang="en-IN" sz="1800" dirty="0">
                <a:solidFill>
                  <a:srgbClr val="000000"/>
                </a:solidFill>
                <a:effectLst/>
                <a:latin typeface="Times New Roman" panose="02020603050405020304" pitchFamily="18" charset="0"/>
                <a:ea typeface="Times New Roman" panose="02020603050405020304" pitchFamily="18" charset="0"/>
              </a:rPr>
              <a:t>G. </a:t>
            </a:r>
            <a:r>
              <a:rPr lang="en-IN" sz="1800" dirty="0" err="1">
                <a:solidFill>
                  <a:srgbClr val="000000"/>
                </a:solidFill>
                <a:effectLst/>
                <a:latin typeface="Times New Roman" panose="02020603050405020304" pitchFamily="18" charset="0"/>
                <a:ea typeface="Times New Roman" panose="02020603050405020304" pitchFamily="18" charset="0"/>
              </a:rPr>
              <a:t>Miolo</a:t>
            </a:r>
            <a:r>
              <a:rPr lang="en-IN" sz="1800" dirty="0">
                <a:solidFill>
                  <a:srgbClr val="000000"/>
                </a:solidFill>
                <a:effectLst/>
                <a:latin typeface="Times New Roman" panose="02020603050405020304" pitchFamily="18" charset="0"/>
                <a:ea typeface="Times New Roman" panose="02020603050405020304" pitchFamily="18" charset="0"/>
              </a:rPr>
              <a:t>, G. Mantoan and C. </a:t>
            </a:r>
            <a:r>
              <a:rPr lang="en-IN" sz="1800" dirty="0" err="1">
                <a:solidFill>
                  <a:srgbClr val="000000"/>
                </a:solidFill>
                <a:effectLst/>
                <a:latin typeface="Times New Roman" panose="02020603050405020304" pitchFamily="18" charset="0"/>
                <a:ea typeface="Times New Roman" panose="02020603050405020304" pitchFamily="18" charset="0"/>
              </a:rPr>
              <a:t>Orsenigo</a:t>
            </a:r>
            <a:r>
              <a:rPr lang="en-IN" sz="1800" dirty="0">
                <a:solidFill>
                  <a:srgbClr val="000000"/>
                </a:solidFill>
                <a:effectLst/>
                <a:latin typeface="Times New Roman" panose="02020603050405020304" pitchFamily="18" charset="0"/>
                <a:ea typeface="Times New Roman" panose="02020603050405020304" pitchFamily="18" charset="0"/>
              </a:rPr>
              <a:t>, “</a:t>
            </a:r>
            <a:r>
              <a:rPr lang="en-IN" sz="1800" dirty="0" err="1">
                <a:solidFill>
                  <a:srgbClr val="000000"/>
                </a:solidFill>
                <a:effectLst/>
                <a:latin typeface="Times New Roman" panose="02020603050405020304" pitchFamily="18" charset="0"/>
                <a:ea typeface="Times New Roman" panose="02020603050405020304" pitchFamily="18" charset="0"/>
              </a:rPr>
              <a:t>ELECTRAMed</a:t>
            </a:r>
            <a:r>
              <a:rPr lang="en-IN" sz="1800" dirty="0">
                <a:solidFill>
                  <a:srgbClr val="000000"/>
                </a:solidFill>
                <a:effectLst/>
                <a:latin typeface="Times New Roman" panose="02020603050405020304" pitchFamily="18" charset="0"/>
                <a:ea typeface="Times New Roman" panose="02020603050405020304" pitchFamily="18" charset="0"/>
              </a:rPr>
              <a:t>: A Pre-trained Language Model for Biomedical NLP,” </a:t>
            </a:r>
            <a:r>
              <a:rPr lang="en-IN" sz="1800" i="1" dirty="0" err="1">
                <a:solidFill>
                  <a:srgbClr val="000000"/>
                </a:solidFill>
                <a:effectLst/>
                <a:latin typeface="Times New Roman" panose="02020603050405020304" pitchFamily="18" charset="0"/>
                <a:ea typeface="Times New Roman" panose="02020603050405020304" pitchFamily="18" charset="0"/>
              </a:rPr>
              <a:t>arXiv</a:t>
            </a:r>
            <a:r>
              <a:rPr lang="en-IN" sz="1800" i="1" dirty="0">
                <a:solidFill>
                  <a:srgbClr val="000000"/>
                </a:solidFill>
                <a:effectLst/>
                <a:latin typeface="Times New Roman" panose="02020603050405020304" pitchFamily="18" charset="0"/>
                <a:ea typeface="Times New Roman" panose="02020603050405020304" pitchFamily="18" charset="0"/>
              </a:rPr>
              <a:t> preprint arXiv:2104.09585</a:t>
            </a:r>
            <a:r>
              <a:rPr lang="en-IN" sz="1800" dirty="0">
                <a:solidFill>
                  <a:srgbClr val="000000"/>
                </a:solidFill>
                <a:effectLst/>
                <a:latin typeface="Times New Roman" panose="02020603050405020304" pitchFamily="18" charset="0"/>
                <a:ea typeface="Times New Roman" panose="02020603050405020304" pitchFamily="18" charset="0"/>
              </a:rPr>
              <a:t>, 2021, </a:t>
            </a:r>
            <a:r>
              <a:rPr lang="en-IN" sz="1800" dirty="0" err="1">
                <a:solidFill>
                  <a:srgbClr val="000000"/>
                </a:solidFill>
                <a:effectLst/>
                <a:latin typeface="Times New Roman" panose="02020603050405020304" pitchFamily="18" charset="0"/>
                <a:ea typeface="Times New Roman" panose="02020603050405020304" pitchFamily="18" charset="0"/>
              </a:rPr>
              <a:t>doi</a:t>
            </a:r>
            <a:r>
              <a:rPr lang="en-IN" sz="1800" dirty="0">
                <a:solidFill>
                  <a:srgbClr val="000000"/>
                </a:solidFill>
                <a:effectLst/>
                <a:latin typeface="Times New Roman" panose="02020603050405020304" pitchFamily="18" charset="0"/>
                <a:ea typeface="Times New Roman" panose="02020603050405020304" pitchFamily="18" charset="0"/>
              </a:rPr>
              <a:t>: 10.48550/arXiv.2104.09585.</a:t>
            </a:r>
            <a:endParaRPr lang="en-IN" sz="1800" dirty="0">
              <a:effectLst/>
              <a:latin typeface="Times New Roman" panose="02020603050405020304" pitchFamily="18" charset="0"/>
              <a:ea typeface="Times New Roman" panose="02020603050405020304" pitchFamily="18" charset="0"/>
            </a:endParaRPr>
          </a:p>
        </p:txBody>
      </p:sp>
      <p:pic>
        <p:nvPicPr>
          <p:cNvPr id="13" name="Picture 12" descr="A logo with a flower&#10;&#10;Description automatically generated">
            <a:extLst>
              <a:ext uri="{FF2B5EF4-FFF2-40B4-BE49-F238E27FC236}">
                <a16:creationId xmlns:a16="http://schemas.microsoft.com/office/drawing/2014/main" id="{275BB359-6268-E1BD-F318-1804E9054CC8}"/>
              </a:ext>
            </a:extLst>
          </p:cNvPr>
          <p:cNvPicPr>
            <a:picLocks noChangeAspect="1"/>
          </p:cNvPicPr>
          <p:nvPr/>
        </p:nvPicPr>
        <p:blipFill>
          <a:blip r:embed="rId2"/>
          <a:stretch>
            <a:fillRect/>
          </a:stretch>
        </p:blipFill>
        <p:spPr>
          <a:xfrm>
            <a:off x="10138549" y="772597"/>
            <a:ext cx="1525679" cy="1322925"/>
          </a:xfrm>
          <a:prstGeom prst="rect">
            <a:avLst/>
          </a:prstGeom>
        </p:spPr>
      </p:pic>
    </p:spTree>
    <p:extLst>
      <p:ext uri="{BB962C8B-B14F-4D97-AF65-F5344CB8AC3E}">
        <p14:creationId xmlns:p14="http://schemas.microsoft.com/office/powerpoint/2010/main" val="3831877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ogo with a flower&#10;&#10;Description automatically generated">
            <a:extLst>
              <a:ext uri="{FF2B5EF4-FFF2-40B4-BE49-F238E27FC236}">
                <a16:creationId xmlns:a16="http://schemas.microsoft.com/office/drawing/2014/main" id="{59E700CC-01EC-0520-F3B9-D2CDC05BB55A}"/>
              </a:ext>
            </a:extLst>
          </p:cNvPr>
          <p:cNvPicPr>
            <a:picLocks noChangeAspect="1"/>
          </p:cNvPicPr>
          <p:nvPr/>
        </p:nvPicPr>
        <p:blipFill>
          <a:blip r:embed="rId2"/>
          <a:stretch>
            <a:fillRect/>
          </a:stretch>
        </p:blipFill>
        <p:spPr>
          <a:xfrm>
            <a:off x="10138549" y="772597"/>
            <a:ext cx="1525679" cy="1322925"/>
          </a:xfrm>
          <a:prstGeom prst="rect">
            <a:avLst/>
          </a:prstGeom>
        </p:spPr>
      </p:pic>
      <p:sp>
        <p:nvSpPr>
          <p:cNvPr id="6" name="TextBox 5">
            <a:extLst>
              <a:ext uri="{FF2B5EF4-FFF2-40B4-BE49-F238E27FC236}">
                <a16:creationId xmlns:a16="http://schemas.microsoft.com/office/drawing/2014/main" id="{F83B39BF-A230-8F87-1B9C-A66C6CAE2482}"/>
              </a:ext>
            </a:extLst>
          </p:cNvPr>
          <p:cNvSpPr txBox="1"/>
          <p:nvPr/>
        </p:nvSpPr>
        <p:spPr>
          <a:xfrm>
            <a:off x="2916159" y="1121946"/>
            <a:ext cx="6359679" cy="973576"/>
          </a:xfrm>
          <a:prstGeom prst="rect">
            <a:avLst/>
          </a:prstGeom>
          <a:solidFill>
            <a:schemeClr val="tx2">
              <a:lumMod val="20000"/>
              <a:lumOff val="80000"/>
            </a:schemeClr>
          </a:solidFill>
        </p:spPr>
        <p:txBody>
          <a:bodyPr lIns="33867" tIns="33867" rIns="33867" bIns="33867" rtlCol="0" anchor="ctr"/>
          <a:lstStyle/>
          <a:p>
            <a:pPr marL="194945" lvl="1">
              <a:lnSpc>
                <a:spcPct val="150000"/>
              </a:lnSpc>
            </a:pPr>
            <a:r>
              <a:rPr lang="en-IN" sz="3600" dirty="0">
                <a:latin typeface="Times New Roman" panose="02020603050405020304" pitchFamily="18" charset="0"/>
                <a:cs typeface="Times New Roman" panose="02020603050405020304" pitchFamily="18" charset="0"/>
              </a:rPr>
              <a:t>           GITHUB LINK</a:t>
            </a:r>
          </a:p>
        </p:txBody>
      </p:sp>
      <p:sp>
        <p:nvSpPr>
          <p:cNvPr id="7" name="TextBox 6">
            <a:extLst>
              <a:ext uri="{FF2B5EF4-FFF2-40B4-BE49-F238E27FC236}">
                <a16:creationId xmlns:a16="http://schemas.microsoft.com/office/drawing/2014/main" id="{D848F7EA-8530-DC2D-7F76-B357FB786D75}"/>
              </a:ext>
            </a:extLst>
          </p:cNvPr>
          <p:cNvSpPr txBox="1"/>
          <p:nvPr/>
        </p:nvSpPr>
        <p:spPr>
          <a:xfrm>
            <a:off x="2625213" y="3244334"/>
            <a:ext cx="7254807" cy="369332"/>
          </a:xfrm>
          <a:prstGeom prst="rect">
            <a:avLst/>
          </a:prstGeom>
          <a:noFill/>
        </p:spPr>
        <p:txBody>
          <a:bodyPr wrap="none" rtlCol="0">
            <a:spAutoFit/>
          </a:bodyPr>
          <a:lstStyle/>
          <a:p>
            <a:r>
              <a:rPr lang="en-IN" dirty="0"/>
              <a:t>https://github.com/arnojivivekvardhan22/Automatic-Infectious-Disease.git </a:t>
            </a:r>
          </a:p>
        </p:txBody>
      </p:sp>
    </p:spTree>
    <p:extLst>
      <p:ext uri="{BB962C8B-B14F-4D97-AF65-F5344CB8AC3E}">
        <p14:creationId xmlns:p14="http://schemas.microsoft.com/office/powerpoint/2010/main" val="2806921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23651" y="2133600"/>
            <a:ext cx="7344697" cy="1569660"/>
          </a:xfrm>
          <a:prstGeom prst="rect">
            <a:avLst/>
          </a:prstGeom>
          <a:noFill/>
        </p:spPr>
        <p:txBody>
          <a:bodyPr wrap="square" rtlCol="0">
            <a:spAutoFit/>
          </a:bodyPr>
          <a:lstStyle/>
          <a:p>
            <a:r>
              <a:rPr lang="en-IN" sz="9600" dirty="0">
                <a:latin typeface="Times New Roman" panose="02020603050405020304" pitchFamily="18" charset="0"/>
                <a:cs typeface="Times New Roman" panose="02020603050405020304" pitchFamily="18" charset="0"/>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2007</Words>
  <Application>Microsoft Office PowerPoint</Application>
  <PresentationFormat>Widescreen</PresentationFormat>
  <Paragraphs>132</Paragraphs>
  <Slides>29</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29</vt:i4>
      </vt:variant>
    </vt:vector>
  </HeadingPairs>
  <TitlesOfParts>
    <vt:vector size="39" baseType="lpstr">
      <vt:lpstr>Aptos</vt:lpstr>
      <vt:lpstr>Arial</vt:lpstr>
      <vt:lpstr>Calibri</vt:lpstr>
      <vt:lpstr>Calibri Light</vt:lpstr>
      <vt:lpstr>Times New Roman</vt:lpstr>
      <vt:lpstr>Times New Roman Bold</vt:lpstr>
      <vt:lpstr>ui-sans-serif</vt:lpstr>
      <vt:lpstr>Wingdings</vt:lpstr>
      <vt:lpstr>Office Theme</vt:lpstr>
      <vt:lpstr>1_Office Theme</vt:lpstr>
      <vt:lpstr>CMR Technical Campus Department of IT Major Project stage-02 Review-02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Adithya Reddy</dc:creator>
  <cp:lastModifiedBy>Akshitha Luxetti</cp:lastModifiedBy>
  <cp:revision>19</cp:revision>
  <dcterms:created xsi:type="dcterms:W3CDTF">2025-03-19T05:04:00Z</dcterms:created>
  <dcterms:modified xsi:type="dcterms:W3CDTF">2026-03-23T06:15:24Z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090709CD62C24DE08E3A9B67015DB3F6_13</vt:lpwstr>
  </property>
  <property fmtid="{D5CDD505-2E9C-101B-9397-08002B2CF9AE}" pid="3" name="KSOProductBuildVer">
    <vt:lpwstr>1033-12.2.0.23196</vt:lpwstr>
  </property>
</Properties>
</file>